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59" dt="2026-09-14T11:39:31.02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B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138160" y="0"/>
            <a:ext cx="4053535" cy="6858000"/>
          </a:xfrm>
          <a:prstGeom prst="rect">
            <a:avLst/>
          </a:prstGeom>
          <a:solidFill>
            <a:srgbClr val="1840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8641080" y="1188720"/>
            <a:ext cx="384048" cy="384048"/>
          </a:xfrm>
          <a:prstGeom prst="ellipse">
            <a:avLst/>
          </a:prstGeom>
          <a:solidFill>
            <a:srgbClr val="189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0241280" y="2286000"/>
            <a:ext cx="384048" cy="384048"/>
          </a:xfrm>
          <a:prstGeom prst="ellipse">
            <a:avLst/>
          </a:prstGeom>
          <a:solidFill>
            <a:srgbClr val="49B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9144000" y="3886200"/>
            <a:ext cx="384048" cy="384048"/>
          </a:xfrm>
          <a:prstGeom prst="ellipse">
            <a:avLst/>
          </a:prstGeom>
          <a:solidFill>
            <a:srgbClr val="2A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972800" y="4754880"/>
            <a:ext cx="384048" cy="384048"/>
          </a:xfrm>
          <a:prstGeom prst="ellipse">
            <a:avLst/>
          </a:prstGeom>
          <a:solidFill>
            <a:srgbClr val="2D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8412480" y="5577840"/>
            <a:ext cx="384048" cy="384048"/>
          </a:xfrm>
          <a:prstGeom prst="ellipse">
            <a:avLst/>
          </a:prstGeom>
          <a:solidFill>
            <a:srgbClr val="E88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051560"/>
            <a:ext cx="6766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>
                <a:solidFill>
                  <a:srgbClr val="49BCC2"/>
                </a:solidFill>
                <a:latin typeface="Aptos"/>
              </a:rPr>
              <a:t>CUSTOMER INTELLIGENCE • RETENTION • 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554480"/>
            <a:ext cx="713232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Customer Retention
Intelligence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246120"/>
            <a:ext cx="649224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>
                <a:solidFill>
                  <a:srgbClr val="DAE4F0"/>
                </a:solidFill>
                <a:latin typeface="Aptos"/>
              </a:rPr>
              <a:t>From raw customer data to actionable churn risk — with analytics, APIs, a dashboard and machine learning.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3154680"/>
            <a:ext cx="566928" cy="475488"/>
          </a:xfrm>
          <a:prstGeom prst="roundRect">
            <a:avLst/>
          </a:prstGeom>
          <a:solidFill>
            <a:srgbClr val="122B4C"/>
          </a:solidFill>
          <a:ln w="13970">
            <a:solidFill>
              <a:srgbClr val="1894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48472" y="3227832"/>
            <a:ext cx="420623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122B4C"/>
                </a:solidFill>
                <a:latin typeface="Aptos"/>
              </a:rPr>
              <a:t>DATA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842248" y="3392424"/>
            <a:ext cx="137160" cy="0"/>
          </a:xfrm>
          <a:prstGeom prst="line">
            <a:avLst/>
          </a:prstGeom>
          <a:ln w="16510">
            <a:solidFill>
              <a:srgbClr val="49BC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979408" y="3154680"/>
            <a:ext cx="566928" cy="475488"/>
          </a:xfrm>
          <a:prstGeom prst="roundRect">
            <a:avLst/>
          </a:prstGeom>
          <a:solidFill>
            <a:srgbClr val="122B4C"/>
          </a:solidFill>
          <a:ln w="13970">
            <a:solidFill>
              <a:srgbClr val="2A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52560" y="3227832"/>
            <a:ext cx="420623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122B4C"/>
                </a:solidFill>
                <a:latin typeface="Aptos"/>
              </a:rPr>
              <a:t>SQL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546336" y="3392424"/>
            <a:ext cx="137160" cy="0"/>
          </a:xfrm>
          <a:prstGeom prst="line">
            <a:avLst/>
          </a:prstGeom>
          <a:ln w="16510">
            <a:solidFill>
              <a:srgbClr val="49BC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683496" y="3154680"/>
            <a:ext cx="566928" cy="475488"/>
          </a:xfrm>
          <a:prstGeom prst="roundRect">
            <a:avLst/>
          </a:prstGeom>
          <a:solidFill>
            <a:srgbClr val="122B4C"/>
          </a:solidFill>
          <a:ln w="13970">
            <a:solidFill>
              <a:srgbClr val="6F5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756648" y="3227832"/>
            <a:ext cx="420623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122B4C"/>
                </a:solidFill>
                <a:latin typeface="Aptos"/>
              </a:rPr>
              <a:t>API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250424" y="3392424"/>
            <a:ext cx="137160" cy="0"/>
          </a:xfrm>
          <a:prstGeom prst="line">
            <a:avLst/>
          </a:prstGeom>
          <a:ln w="16510">
            <a:solidFill>
              <a:srgbClr val="49BC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0387584" y="3154680"/>
            <a:ext cx="566928" cy="475488"/>
          </a:xfrm>
          <a:prstGeom prst="roundRect">
            <a:avLst/>
          </a:prstGeom>
          <a:solidFill>
            <a:srgbClr val="122B4C"/>
          </a:solidFill>
          <a:ln w="13970">
            <a:solidFill>
              <a:srgbClr val="49BC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0460736" y="3227832"/>
            <a:ext cx="420623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122B4C"/>
                </a:solidFill>
                <a:latin typeface="Aptos"/>
              </a:rPr>
              <a:t>UI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0954511" y="3392424"/>
            <a:ext cx="137161" cy="0"/>
          </a:xfrm>
          <a:prstGeom prst="line">
            <a:avLst/>
          </a:prstGeom>
          <a:ln w="16510">
            <a:solidFill>
              <a:srgbClr val="49BCC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11091672" y="3154680"/>
            <a:ext cx="566928" cy="475488"/>
          </a:xfrm>
          <a:prstGeom prst="roundRect">
            <a:avLst/>
          </a:prstGeom>
          <a:solidFill>
            <a:srgbClr val="122B4C"/>
          </a:solidFill>
          <a:ln w="13970">
            <a:solidFill>
              <a:srgbClr val="E88F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164824" y="3227832"/>
            <a:ext cx="420623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800" b="1">
                <a:solidFill>
                  <a:srgbClr val="122B4C"/>
                </a:solidFill>
                <a:latin typeface="Aptos"/>
              </a:rPr>
              <a:t>ML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580644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B4C6DA"/>
                </a:solidFill>
                <a:latin typeface="Aptos"/>
              </a:rPr>
              <a:t>Prepared from the supplied project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89497"/>
                </a:solidFill>
                <a:latin typeface="Aptos"/>
              </a:rPr>
              <a:t>CUSTOMER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22B4C"/>
                </a:solidFill>
                <a:latin typeface="Aptos"/>
              </a:rPr>
              <a:t>Executive Story: Why This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430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27081"/>
                </a:solidFill>
                <a:latin typeface="Aptos"/>
              </a:rPr>
              <a:t>A retention workflow that turns customer data into prioritized action.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11155680" cy="22860"/>
          </a:xfrm>
          <a:prstGeom prst="rect">
            <a:avLst/>
          </a:prstGeom>
          <a:solidFill>
            <a:srgbClr val="DB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27081"/>
                </a:solidFill>
                <a:latin typeface="Aptos"/>
              </a:rPr>
              <a:t>Based on the Customer Retention Intelligence System project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627081"/>
                </a:solidFill>
                <a:latin typeface="Aptos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965960"/>
            <a:ext cx="2057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2130552"/>
            <a:ext cx="1783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2A69B4"/>
                </a:solidFill>
                <a:latin typeface="Aptos"/>
              </a:rPr>
              <a:t>7,043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724912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27081"/>
                </a:solidFill>
                <a:latin typeface="Aptos"/>
              </a:rPr>
              <a:t>customers in the reference dataset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965960"/>
            <a:ext cx="2057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26079" y="2130552"/>
            <a:ext cx="1783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189497"/>
                </a:solidFill>
                <a:latin typeface="Aptos"/>
              </a:rPr>
              <a:t>21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79" y="2724912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27081"/>
                </a:solidFill>
                <a:latin typeface="Aptos"/>
              </a:rPr>
              <a:t>customer attributes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983480" y="1965960"/>
            <a:ext cx="2057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20640" y="2130552"/>
            <a:ext cx="1783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E88F2C"/>
                </a:solidFill>
                <a:latin typeface="Aptos"/>
              </a:rPr>
              <a:t>~26.5%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724912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27081"/>
                </a:solidFill>
                <a:latin typeface="Aptos"/>
              </a:rPr>
              <a:t>historical churned share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78040" y="1965960"/>
            <a:ext cx="2057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15200" y="2130552"/>
            <a:ext cx="17830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700" b="1">
                <a:solidFill>
                  <a:srgbClr val="6F53A8"/>
                </a:solidFill>
                <a:latin typeface="Apto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2724912"/>
            <a:ext cx="1783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27081"/>
                </a:solidFill>
                <a:latin typeface="Aptos"/>
              </a:rPr>
              <a:t>integrated retention workflow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72600" y="1874519"/>
            <a:ext cx="2148840" cy="2834640"/>
          </a:xfrm>
          <a:prstGeom prst="roundRect">
            <a:avLst/>
          </a:prstGeom>
          <a:solidFill>
            <a:srgbClr val="E4F6F5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372600" y="1874519"/>
            <a:ext cx="68580" cy="2834640"/>
          </a:xfrm>
          <a:prstGeom prst="rect">
            <a:avLst/>
          </a:prstGeom>
          <a:solidFill>
            <a:srgbClr val="2D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573768" y="2039112"/>
            <a:ext cx="18288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C"/>
                </a:solidFill>
                <a:latin typeface="Aptos"/>
              </a:rPr>
              <a:t>Business outcome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73768" y="2450591"/>
            <a:ext cx="1783080" cy="21214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42F3D"/>
                </a:solidFill>
                <a:latin typeface="Aptos"/>
              </a:rPr>
              <a:t>Give retention teams a single place to understand customers, identify high-risk segments, and act earlier.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886200"/>
            <a:ext cx="8412480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42F3D"/>
                </a:solidFill>
                <a:latin typeface="Aptos"/>
              </a:defRPr>
            </a:pPr>
            <a:r>
              <a:t>Move from reactive churn reporting to proactive risk identification.</a:t>
            </a:r>
          </a:p>
          <a:p>
            <a:pPr>
              <a:spcAft>
                <a:spcPts val="700"/>
              </a:spcAft>
              <a:defRPr sz="1500">
                <a:solidFill>
                  <a:srgbClr val="242F3D"/>
                </a:solidFill>
                <a:latin typeface="Aptos"/>
              </a:defRPr>
            </a:pPr>
            <a:r>
              <a:t>Combine descriptive analytics, explainable rules and ML-based scoring.</a:t>
            </a:r>
          </a:p>
          <a:p>
            <a:pPr>
              <a:spcAft>
                <a:spcPts val="700"/>
              </a:spcAft>
              <a:defRPr sz="1500">
                <a:solidFill>
                  <a:srgbClr val="242F3D"/>
                </a:solidFill>
                <a:latin typeface="Aptos"/>
              </a:defRPr>
            </a:pPr>
            <a:r>
              <a:t>Expose insights through APIs so the dashboard and downstream consumers use the same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89497"/>
                </a:solidFill>
                <a:latin typeface="Aptos"/>
              </a:rPr>
              <a:t>CUSTOMER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22B4C"/>
                </a:solidFill>
                <a:latin typeface="Aptos"/>
              </a:rPr>
              <a:t>The Business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430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27081"/>
                </a:solidFill>
                <a:latin typeface="Aptos"/>
              </a:rPr>
              <a:t>Retention teams often have data, but not a connected decision workflow.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11155680" cy="22860"/>
          </a:xfrm>
          <a:prstGeom prst="rect">
            <a:avLst/>
          </a:prstGeom>
          <a:solidFill>
            <a:srgbClr val="DB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27081"/>
                </a:solidFill>
                <a:latin typeface="Aptos"/>
              </a:rPr>
              <a:t>Based on the Customer Retention Intelligence System project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627081"/>
                </a:solidFill>
                <a:latin typeface="Aptos"/>
              </a:rP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521208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874519"/>
            <a:ext cx="68580" cy="1508760"/>
          </a:xfrm>
          <a:prstGeom prst="rect">
            <a:avLst/>
          </a:prstGeom>
          <a:solidFill>
            <a:srgbClr val="2A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2039112"/>
            <a:ext cx="4892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C"/>
                </a:solidFill>
                <a:latin typeface="Aptos"/>
              </a:rPr>
              <a:t>Customer data is fragmented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450591"/>
            <a:ext cx="484632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42F3D"/>
                </a:solidFill>
                <a:latin typeface="Aptos"/>
              </a:rPr>
              <a:t>Profile, services, contract and billing attributes must be brought together before risk can be understood.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874519"/>
            <a:ext cx="521208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172200" y="1874519"/>
            <a:ext cx="68580" cy="1508760"/>
          </a:xfrm>
          <a:prstGeom prst="rect">
            <a:avLst/>
          </a:prstGeom>
          <a:solidFill>
            <a:srgbClr val="E88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373368" y="2039112"/>
            <a:ext cx="4892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C"/>
                </a:solidFill>
                <a:latin typeface="Aptos"/>
              </a:rPr>
              <a:t>Risk is hard to prioritize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2450591"/>
            <a:ext cx="484632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42F3D"/>
                </a:solidFill>
                <a:latin typeface="Aptos"/>
              </a:rPr>
              <a:t>A retention team needs a ranked, actionable list — not just an overall churn percentage.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749039"/>
            <a:ext cx="521208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40080" y="3749039"/>
            <a:ext cx="68580" cy="1508760"/>
          </a:xfrm>
          <a:prstGeom prst="rect">
            <a:avLst/>
          </a:prstGeom>
          <a:solidFill>
            <a:srgbClr val="189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7" y="3913631"/>
            <a:ext cx="4892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C"/>
                </a:solidFill>
                <a:latin typeface="Aptos"/>
              </a:rPr>
              <a:t>Insights need context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7" y="4325112"/>
            <a:ext cx="484632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42F3D"/>
                </a:solidFill>
                <a:latin typeface="Aptos"/>
              </a:rPr>
              <a:t>A score is more useful when the team can see the customer profile and why the customer is considered risky.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749039"/>
            <a:ext cx="5212080" cy="15087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72200" y="3749039"/>
            <a:ext cx="68580" cy="1508760"/>
          </a:xfrm>
          <a:prstGeom prst="rect">
            <a:avLst/>
          </a:prstGeom>
          <a:solidFill>
            <a:srgbClr val="6F5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73368" y="3913631"/>
            <a:ext cx="4892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C"/>
                </a:solidFill>
                <a:latin typeface="Aptos"/>
              </a:rPr>
              <a:t>Analysis must become repeatable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3368" y="4325112"/>
            <a:ext cx="4846320" cy="7955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242F3D"/>
                </a:solidFill>
                <a:latin typeface="Aptos"/>
              </a:rPr>
              <a:t>Daily/recurring data needs validation, cleaning, feature generation and scoring without manual rework.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80644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22B4C"/>
                </a:solidFill>
                <a:latin typeface="Aptos"/>
              </a:rPr>
              <a:t>Core idea: connect data → intelligence → 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89497"/>
                </a:solidFill>
                <a:latin typeface="Aptos"/>
              </a:rPr>
              <a:t>CUSTOMER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22B4C"/>
                </a:solidFill>
                <a:latin typeface="Aptos"/>
              </a:rPr>
              <a:t>Proposed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430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27081"/>
                </a:solidFill>
                <a:latin typeface="Aptos"/>
              </a:rPr>
              <a:t>A layered Customer Retention Intelligence System.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11155680" cy="22860"/>
          </a:xfrm>
          <a:prstGeom prst="rect">
            <a:avLst/>
          </a:prstGeom>
          <a:solidFill>
            <a:srgbClr val="DB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27081"/>
                </a:solidFill>
                <a:latin typeface="Aptos"/>
              </a:rPr>
              <a:t>Based on the Customer Retention Intelligence System project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627081"/>
                </a:solidFill>
                <a:latin typeface="Aptos"/>
              </a:rPr>
              <a:t>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2240280"/>
            <a:ext cx="1828800" cy="10789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A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" y="2313432"/>
            <a:ext cx="1682496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22B4C"/>
                </a:solidFill>
                <a:latin typeface="Aptos"/>
              </a:rPr>
              <a:t>1
Ingest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3456432"/>
            <a:ext cx="1609344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27081"/>
                </a:solidFill>
                <a:latin typeface="Aptos"/>
              </a:rPr>
              <a:t>Validate incoming customer extract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441448" y="2779776"/>
            <a:ext cx="420624" cy="0"/>
          </a:xfrm>
          <a:prstGeom prst="line">
            <a:avLst/>
          </a:prstGeom>
          <a:ln w="25400">
            <a:solidFill>
              <a:srgbClr val="DB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98648" y="2240280"/>
            <a:ext cx="1828800" cy="10789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894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71800" y="2313432"/>
            <a:ext cx="1682496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22B4C"/>
                </a:solidFill>
                <a:latin typeface="Aptos"/>
              </a:rPr>
              <a:t>2
Clean &amp; Curate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08376" y="3456432"/>
            <a:ext cx="1609344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27081"/>
                </a:solidFill>
                <a:latin typeface="Aptos"/>
              </a:rPr>
              <a:t>Standardize and load trusted data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745736" y="2779776"/>
            <a:ext cx="420624" cy="0"/>
          </a:xfrm>
          <a:prstGeom prst="line">
            <a:avLst/>
          </a:prstGeom>
          <a:ln w="25400">
            <a:solidFill>
              <a:srgbClr val="DB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202936" y="2240280"/>
            <a:ext cx="1828800" cy="10789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F5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276088" y="2313432"/>
            <a:ext cx="1682496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22B4C"/>
                </a:solidFill>
                <a:latin typeface="Aptos"/>
              </a:rPr>
              <a:t>3
Analyze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12664" y="3456432"/>
            <a:ext cx="1609344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27081"/>
                </a:solidFill>
                <a:latin typeface="Aptos"/>
              </a:rPr>
              <a:t>KPIs, segments and high-risk rules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050024" y="2779776"/>
            <a:ext cx="420624" cy="0"/>
          </a:xfrm>
          <a:prstGeom prst="line">
            <a:avLst/>
          </a:prstGeom>
          <a:ln w="25400">
            <a:solidFill>
              <a:srgbClr val="DB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507224" y="2240280"/>
            <a:ext cx="1828800" cy="10789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88F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80376" y="2313432"/>
            <a:ext cx="1682496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22B4C"/>
                </a:solidFill>
                <a:latin typeface="Aptos"/>
              </a:rPr>
              <a:t>4
Predict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16952" y="3456432"/>
            <a:ext cx="1609344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27081"/>
                </a:solidFill>
                <a:latin typeface="Aptos"/>
              </a:rPr>
              <a:t>Train, interpret and score churn risk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354312" y="2779776"/>
            <a:ext cx="420624" cy="0"/>
          </a:xfrm>
          <a:prstGeom prst="line">
            <a:avLst/>
          </a:prstGeom>
          <a:ln w="25400">
            <a:solidFill>
              <a:srgbClr val="DB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811512" y="2240280"/>
            <a:ext cx="1828800" cy="10789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D9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884664" y="2313432"/>
            <a:ext cx="1682496" cy="9326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400" b="1">
                <a:solidFill>
                  <a:srgbClr val="122B4C"/>
                </a:solidFill>
                <a:latin typeface="Aptos"/>
              </a:rPr>
              <a:t>5
Act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21240" y="3456432"/>
            <a:ext cx="1609344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>
                <a:solidFill>
                  <a:srgbClr val="627081"/>
                </a:solidFill>
                <a:latin typeface="Aptos"/>
              </a:rPr>
              <a:t>Dashboard + APIs for retention teams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4709160"/>
            <a:ext cx="3337560" cy="1005840"/>
          </a:xfrm>
          <a:prstGeom prst="roundRect">
            <a:avLst/>
          </a:prstGeom>
          <a:solidFill>
            <a:srgbClr val="E4F6F5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85800" y="4709160"/>
            <a:ext cx="68580" cy="1005840"/>
          </a:xfrm>
          <a:prstGeom prst="rect">
            <a:avLst/>
          </a:prstGeom>
          <a:solidFill>
            <a:srgbClr val="189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86968" y="4873752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2B4C"/>
                </a:solidFill>
                <a:latin typeface="Aptos"/>
              </a:rPr>
              <a:t>Explainable first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" y="5285232"/>
            <a:ext cx="2971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42F3D"/>
                </a:solidFill>
                <a:latin typeface="Aptos"/>
              </a:rPr>
              <a:t>Rule-based high-risk view provides an immediate, transparent decision layer.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416552" y="4709160"/>
            <a:ext cx="3337560" cy="1005840"/>
          </a:xfrm>
          <a:prstGeom prst="roundRect">
            <a:avLst/>
          </a:prstGeom>
          <a:solidFill>
            <a:srgbClr val="FCF1E1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416552" y="4709160"/>
            <a:ext cx="68580" cy="1005840"/>
          </a:xfrm>
          <a:prstGeom prst="rect">
            <a:avLst/>
          </a:prstGeom>
          <a:solidFill>
            <a:srgbClr val="E88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17720" y="4873752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2B4C"/>
                </a:solidFill>
                <a:latin typeface="Aptos"/>
              </a:rPr>
              <a:t>ML when ready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17720" y="5285232"/>
            <a:ext cx="2971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42F3D"/>
                </a:solidFill>
                <a:latin typeface="Aptos"/>
              </a:rPr>
              <a:t>ML scoring adds probability-based prioritization and captures patterns beyond fixed rules.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138160" y="4709160"/>
            <a:ext cx="3337560" cy="1005840"/>
          </a:xfrm>
          <a:prstGeom prst="roundRect">
            <a:avLst/>
          </a:prstGeom>
          <a:solidFill>
            <a:srgbClr val="E5EFFA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8138160" y="4709160"/>
            <a:ext cx="68580" cy="1005840"/>
          </a:xfrm>
          <a:prstGeom prst="rect">
            <a:avLst/>
          </a:prstGeom>
          <a:solidFill>
            <a:srgbClr val="2A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339328" y="4873752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2B4C"/>
                </a:solidFill>
                <a:latin typeface="Aptos"/>
              </a:rPr>
              <a:t>One serving layer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39328" y="5285232"/>
            <a:ext cx="29718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42F3D"/>
                </a:solidFill>
                <a:latin typeface="Aptos"/>
              </a:rPr>
              <a:t>APIs expose customer profiles, summaries, features and risk lists to the UI.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89497"/>
                </a:solidFill>
                <a:latin typeface="Aptos"/>
              </a:rPr>
              <a:t>CUSTOMER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22B4C"/>
                </a:solidFill>
                <a:latin typeface="Aptos"/>
              </a:rPr>
              <a:t>What the Retention Team Can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430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27081"/>
                </a:solidFill>
                <a:latin typeface="Aptos"/>
              </a:rPr>
              <a:t>A simple user journey from overview to individual action.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11155680" cy="22860"/>
          </a:xfrm>
          <a:prstGeom prst="rect">
            <a:avLst/>
          </a:prstGeom>
          <a:solidFill>
            <a:srgbClr val="DB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27081"/>
                </a:solidFill>
                <a:latin typeface="Aptos"/>
              </a:rPr>
              <a:t>Based on the Customer Retention Intelligence System project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627081"/>
                </a:solidFill>
                <a:latin typeface="Aptos"/>
              </a:rPr>
              <a:t>5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1874519"/>
            <a:ext cx="566928" cy="566928"/>
          </a:xfrm>
          <a:prstGeom prst="ellipse">
            <a:avLst/>
          </a:prstGeom>
          <a:solidFill>
            <a:srgbClr val="2A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1892807"/>
            <a:ext cx="56692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856231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C"/>
                </a:solidFill>
                <a:latin typeface="Aptos"/>
              </a:rPr>
              <a:t>See the churn picture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856231"/>
            <a:ext cx="64922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42F3D"/>
                </a:solidFill>
                <a:latin typeface="Aptos"/>
              </a:rPr>
              <a:t>Executive KPIs and churn breakdowns by contract and internet service.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834639"/>
            <a:ext cx="566928" cy="566928"/>
          </a:xfrm>
          <a:prstGeom prst="ellipse">
            <a:avLst/>
          </a:prstGeom>
          <a:solidFill>
            <a:srgbClr val="189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2852927"/>
            <a:ext cx="56692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816351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C"/>
                </a:solidFill>
                <a:latin typeface="Aptos"/>
              </a:rPr>
              <a:t>Search a customer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816351"/>
            <a:ext cx="64922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42F3D"/>
                </a:solidFill>
                <a:latin typeface="Aptos"/>
              </a:rPr>
              <a:t>Look up a customer profile during a support or retention conversation.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3794760"/>
            <a:ext cx="566928" cy="566928"/>
          </a:xfrm>
          <a:prstGeom prst="ellipse">
            <a:avLst/>
          </a:prstGeom>
          <a:solidFill>
            <a:srgbClr val="6F5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20" y="3813048"/>
            <a:ext cx="56692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377647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C"/>
                </a:solidFill>
                <a:latin typeface="Aptos"/>
              </a:rPr>
              <a:t>Prioritize outreach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776472"/>
            <a:ext cx="64922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42F3D"/>
                </a:solidFill>
                <a:latin typeface="Aptos"/>
              </a:rPr>
              <a:t>Review a high-risk list with tenure, charges, contract and risk reason.</a:t>
            </a:r>
          </a:p>
        </p:txBody>
      </p:sp>
      <p:sp>
        <p:nvSpPr>
          <p:cNvPr id="21" name="Oval 20"/>
          <p:cNvSpPr/>
          <p:nvPr/>
        </p:nvSpPr>
        <p:spPr>
          <a:xfrm>
            <a:off x="731520" y="4754880"/>
            <a:ext cx="566928" cy="566928"/>
          </a:xfrm>
          <a:prstGeom prst="ellipse">
            <a:avLst/>
          </a:prstGeom>
          <a:solidFill>
            <a:srgbClr val="E88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4773168"/>
            <a:ext cx="566928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4736592"/>
            <a:ext cx="3108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C"/>
                </a:solidFill>
                <a:latin typeface="Aptos"/>
              </a:rPr>
              <a:t>Estimate individual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4736592"/>
            <a:ext cx="649224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42F3D"/>
                </a:solidFill>
                <a:latin typeface="Aptos"/>
              </a:rPr>
              <a:t>Submit customer attributes and receive a churn risk prediction.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89497"/>
                </a:solidFill>
                <a:latin typeface="Aptos"/>
              </a:rPr>
              <a:t>CUSTOMER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22B4C"/>
                </a:solidFill>
                <a:latin typeface="Aptos"/>
              </a:rPr>
              <a:t>Reference Data &amp; Business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430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27081"/>
                </a:solidFill>
                <a:latin typeface="Aptos"/>
              </a:rPr>
              <a:t>The supplied guide uses the IBM/Telco churn dataset as the common source.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11155680" cy="22860"/>
          </a:xfrm>
          <a:prstGeom prst="rect">
            <a:avLst/>
          </a:prstGeom>
          <a:solidFill>
            <a:srgbClr val="DB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27081"/>
                </a:solidFill>
                <a:latin typeface="Aptos"/>
              </a:rPr>
              <a:t>Based on the Customer Retention Intelligence System project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627081"/>
                </a:solidFill>
                <a:latin typeface="Aptos"/>
              </a:rPr>
              <a:t>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539496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874519"/>
            <a:ext cx="68580" cy="1417320"/>
          </a:xfrm>
          <a:prstGeom prst="rect">
            <a:avLst/>
          </a:prstGeom>
          <a:solidFill>
            <a:srgbClr val="2A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2039112"/>
            <a:ext cx="5074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2B4C"/>
                </a:solidFill>
                <a:latin typeface="Aptos"/>
              </a:rPr>
              <a:t>Dataset profile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450591"/>
            <a:ext cx="5029200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42F3D"/>
                </a:solidFill>
                <a:latin typeface="Aptos"/>
              </a:rPr>
              <a:t>7,043 customer snapshots • 21 columns • approximately 1 MB CSV • ~73.5% active / ~26.5% churned.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520440"/>
            <a:ext cx="539496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" y="3520440"/>
            <a:ext cx="68580" cy="1417320"/>
          </a:xfrm>
          <a:prstGeom prst="rect">
            <a:avLst/>
          </a:prstGeom>
          <a:solidFill>
            <a:srgbClr val="189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41247" y="3685032"/>
            <a:ext cx="50749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2B4C"/>
                </a:solidFill>
                <a:latin typeface="Aptos"/>
              </a:rPr>
              <a:t>Important data quality issue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4096512"/>
            <a:ext cx="5029200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42F3D"/>
                </a:solidFill>
                <a:latin typeface="Aptos"/>
              </a:rPr>
              <a:t>TotalCharges arrives as text with about 11 blank values for tenure=0 customers; the pipeline converts and fills these appropriately.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874519"/>
            <a:ext cx="521208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309360" y="1874519"/>
            <a:ext cx="68580" cy="1417320"/>
          </a:xfrm>
          <a:prstGeom prst="rect">
            <a:avLst/>
          </a:prstGeom>
          <a:solidFill>
            <a:srgbClr val="6F5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10528" y="2039112"/>
            <a:ext cx="4892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2B4C"/>
                </a:solidFill>
                <a:latin typeface="Aptos"/>
              </a:rPr>
              <a:t>High-signal segmentation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2450591"/>
            <a:ext cx="4846320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42F3D"/>
                </a:solidFill>
                <a:latin typeface="Aptos"/>
              </a:rPr>
              <a:t>Contract, internet service, payment method, tenure and monthly charges are used to understand churn patterns.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3520440"/>
            <a:ext cx="521208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09360" y="3520440"/>
            <a:ext cx="68580" cy="1417320"/>
          </a:xfrm>
          <a:prstGeom prst="rect">
            <a:avLst/>
          </a:prstGeom>
          <a:solidFill>
            <a:srgbClr val="E88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510528" y="3685032"/>
            <a:ext cx="48920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2B4C"/>
                </a:solidFill>
                <a:latin typeface="Aptos"/>
              </a:rPr>
              <a:t>Reference insight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10528" y="4096512"/>
            <a:ext cx="4846320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242F3D"/>
                </a:solidFill>
                <a:latin typeface="Aptos"/>
              </a:rPr>
              <a:t>The guide expects month-to-month customers — particularly the month-to-month + fiber optic segment — to be among the highest-risk segments.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532120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0">
                <a:solidFill>
                  <a:srgbClr val="627081"/>
                </a:solidFill>
                <a:latin typeface="Aptos"/>
              </a:rPr>
              <a:t>Note: these are reference-dataset findings/expectations from the supplied guide, not claims about a live telecom population.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89497"/>
                </a:solidFill>
                <a:latin typeface="Aptos"/>
              </a:rPr>
              <a:t>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22B4C"/>
                </a:solidFill>
                <a:latin typeface="Aptos"/>
              </a:rPr>
              <a:t>Frontend Experience —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11155680" cy="22860"/>
          </a:xfrm>
          <a:prstGeom prst="rect">
            <a:avLst/>
          </a:prstGeom>
          <a:solidFill>
            <a:srgbClr val="DB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27081"/>
                </a:solidFill>
                <a:latin typeface="Aptos"/>
              </a:rPr>
              <a:t>Based on the Customer Retention Intelligence System project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627081"/>
                </a:solidFill>
                <a:latin typeface="Aptos"/>
              </a:rPr>
              <a:t>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965960"/>
            <a:ext cx="3246120" cy="1234440"/>
          </a:xfrm>
          <a:prstGeom prst="roundRect">
            <a:avLst/>
          </a:prstGeom>
          <a:solidFill>
            <a:srgbClr val="E5EFFA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75320" y="1965960"/>
            <a:ext cx="68580" cy="1234440"/>
          </a:xfrm>
          <a:prstGeom prst="rect">
            <a:avLst/>
          </a:prstGeom>
          <a:solidFill>
            <a:srgbClr val="2A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76488" y="2130552"/>
            <a:ext cx="29260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B4C"/>
                </a:solidFill>
                <a:latin typeface="Aptos"/>
              </a:rPr>
              <a:t>Expected content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2542032"/>
            <a:ext cx="2880360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42F3D"/>
                </a:solidFill>
                <a:latin typeface="Aptos"/>
              </a:rPr>
              <a:t>Total customers • churned • churn rate • breakdowns by contract and internet service.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3429000"/>
            <a:ext cx="3246120" cy="1234440"/>
          </a:xfrm>
          <a:prstGeom prst="roundRect">
            <a:avLst/>
          </a:prstGeom>
          <a:solidFill>
            <a:srgbClr val="E4F6F5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75320" y="3429000"/>
            <a:ext cx="68580" cy="1234440"/>
          </a:xfrm>
          <a:prstGeom prst="rect">
            <a:avLst/>
          </a:prstGeom>
          <a:solidFill>
            <a:srgbClr val="189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76488" y="3593592"/>
            <a:ext cx="29260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B4C"/>
                </a:solidFill>
                <a:latin typeface="Aptos"/>
              </a:rPr>
              <a:t>API source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6488" y="4005072"/>
            <a:ext cx="2880360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42F3D"/>
                </a:solidFill>
                <a:latin typeface="Aptos"/>
              </a:rPr>
              <a:t>GET /churn/summary returns the structured KPI payload consumed by the React page.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4892040"/>
            <a:ext cx="3246120" cy="914400"/>
          </a:xfrm>
          <a:prstGeom prst="roundRect">
            <a:avLst/>
          </a:prstGeom>
          <a:solidFill>
            <a:srgbClr val="FCF1E1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275320" y="4892040"/>
            <a:ext cx="68580" cy="914400"/>
          </a:xfrm>
          <a:prstGeom prst="rect">
            <a:avLst/>
          </a:prstGeom>
          <a:solidFill>
            <a:srgbClr val="E88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76488" y="5056631"/>
            <a:ext cx="29260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2B4C"/>
                </a:solidFill>
                <a:latin typeface="Aptos"/>
              </a:rPr>
              <a:t>Presentation tip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6488" y="5468112"/>
            <a:ext cx="2880360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42F3D"/>
                </a:solidFill>
                <a:latin typeface="Aptos"/>
              </a:rPr>
              <a:t>Replace this placeholder with your strongest dashboard screenshot.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7B5D8285-0C1C-E230-FDF8-A74F68CC1B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3067" y="1635760"/>
            <a:ext cx="5993947" cy="47345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89497"/>
                </a:solidFill>
                <a:latin typeface="Aptos"/>
              </a:rPr>
              <a:t>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22B4C"/>
                </a:solidFill>
                <a:latin typeface="Aptos"/>
              </a:rPr>
              <a:t>Frontend Experience — Customer 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11155680" cy="22860"/>
          </a:xfrm>
          <a:prstGeom prst="rect">
            <a:avLst/>
          </a:prstGeom>
          <a:solidFill>
            <a:srgbClr val="DB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27081"/>
                </a:solidFill>
                <a:latin typeface="Aptos"/>
              </a:rPr>
              <a:t>Based on the Customer Retention Intelligence System project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627081"/>
                </a:solidFill>
                <a:latin typeface="Aptos"/>
              </a:rPr>
              <a:t>8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965960"/>
            <a:ext cx="3246120" cy="1234440"/>
          </a:xfrm>
          <a:prstGeom prst="roundRect">
            <a:avLst/>
          </a:prstGeom>
          <a:solidFill>
            <a:srgbClr val="E5EFFA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75320" y="1965960"/>
            <a:ext cx="68580" cy="1234440"/>
          </a:xfrm>
          <a:prstGeom prst="rect">
            <a:avLst/>
          </a:prstGeom>
          <a:solidFill>
            <a:srgbClr val="2A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76488" y="2130552"/>
            <a:ext cx="29260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B4C"/>
                </a:solidFill>
                <a:latin typeface="Aptos"/>
              </a:rPr>
              <a:t>User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2542032"/>
            <a:ext cx="2880360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42F3D"/>
                </a:solidFill>
                <a:latin typeface="Aptos"/>
              </a:rPr>
              <a:t>Enter customer ID and search for a profile.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3429000"/>
            <a:ext cx="3246120" cy="1234440"/>
          </a:xfrm>
          <a:prstGeom prst="roundRect">
            <a:avLst/>
          </a:prstGeom>
          <a:solidFill>
            <a:srgbClr val="E4F6F5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75320" y="3429000"/>
            <a:ext cx="68580" cy="1234440"/>
          </a:xfrm>
          <a:prstGeom prst="rect">
            <a:avLst/>
          </a:prstGeom>
          <a:solidFill>
            <a:srgbClr val="189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76488" y="3593592"/>
            <a:ext cx="29260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B4C"/>
                </a:solidFill>
                <a:latin typeface="Aptos"/>
              </a:rPr>
              <a:t>Profile 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6488" y="4005072"/>
            <a:ext cx="2880360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42F3D"/>
                </a:solidFill>
                <a:latin typeface="Aptos"/>
              </a:rPr>
              <a:t>Tenure, contract, internet service, monthly charges and churn status.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4892040"/>
            <a:ext cx="3246120" cy="914400"/>
          </a:xfrm>
          <a:prstGeom prst="roundRect">
            <a:avLst/>
          </a:prstGeom>
          <a:solidFill>
            <a:srgbClr val="EFEAF8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275320" y="4892040"/>
            <a:ext cx="68580" cy="914400"/>
          </a:xfrm>
          <a:prstGeom prst="rect">
            <a:avLst/>
          </a:prstGeom>
          <a:solidFill>
            <a:srgbClr val="6F5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76488" y="5056631"/>
            <a:ext cx="29260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2B4C"/>
                </a:solidFill>
                <a:latin typeface="Aptos"/>
              </a:rPr>
              <a:t>API source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6488" y="5468112"/>
            <a:ext cx="2880360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42F3D"/>
                </a:solidFill>
                <a:latin typeface="Aptos"/>
              </a:rPr>
              <a:t>GET /customer/{customer_id}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72FFAFA-EF1A-0043-00C1-24333EBF21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363" y="2018348"/>
            <a:ext cx="6442075" cy="366458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89497"/>
                </a:solidFill>
                <a:latin typeface="Aptos"/>
              </a:rPr>
              <a:t>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22B4C"/>
                </a:solidFill>
                <a:latin typeface="Aptos"/>
              </a:rPr>
              <a:t>Frontend Experience — High-Risk Customers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11155680" cy="22860"/>
          </a:xfrm>
          <a:prstGeom prst="rect">
            <a:avLst/>
          </a:prstGeom>
          <a:solidFill>
            <a:srgbClr val="DB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27081"/>
                </a:solidFill>
                <a:latin typeface="Aptos"/>
              </a:rPr>
              <a:t>Based on the Customer Retention Intelligence System project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627081"/>
                </a:solidFill>
                <a:latin typeface="Aptos"/>
              </a:rPr>
              <a:t>9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965960"/>
            <a:ext cx="3246120" cy="1234440"/>
          </a:xfrm>
          <a:prstGeom prst="roundRect">
            <a:avLst/>
          </a:prstGeom>
          <a:solidFill>
            <a:srgbClr val="FAE8E8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75320" y="1965960"/>
            <a:ext cx="68580" cy="1234440"/>
          </a:xfrm>
          <a:prstGeom prst="rect">
            <a:avLst/>
          </a:prstGeom>
          <a:solidFill>
            <a:srgbClr val="CD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76488" y="2130552"/>
            <a:ext cx="29260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B4C"/>
                </a:solidFill>
                <a:latin typeface="Aptos"/>
              </a:rPr>
              <a:t>Actionable list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2542032"/>
            <a:ext cx="2880360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42F3D"/>
                </a:solidFill>
                <a:latin typeface="Aptos"/>
              </a:rPr>
              <a:t>Customer ID, tenure, monthly charges, contract type and risk reason.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3429000"/>
            <a:ext cx="3246120" cy="1234440"/>
          </a:xfrm>
          <a:prstGeom prst="roundRect">
            <a:avLst/>
          </a:prstGeom>
          <a:solidFill>
            <a:srgbClr val="E5EFFA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75320" y="3429000"/>
            <a:ext cx="68580" cy="1234440"/>
          </a:xfrm>
          <a:prstGeom prst="rect">
            <a:avLst/>
          </a:prstGeom>
          <a:solidFill>
            <a:srgbClr val="2A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76488" y="3593592"/>
            <a:ext cx="29260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B4C"/>
                </a:solidFill>
                <a:latin typeface="Aptos"/>
              </a:rPr>
              <a:t>Interaction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6488" y="4005072"/>
            <a:ext cx="2880360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42F3D"/>
                </a:solidFill>
                <a:latin typeface="Aptos"/>
              </a:rPr>
              <a:t>Load more + tenure sorting + empty-state handling.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4892040"/>
            <a:ext cx="3246120" cy="914400"/>
          </a:xfrm>
          <a:prstGeom prst="roundRect">
            <a:avLst/>
          </a:prstGeom>
          <a:solidFill>
            <a:srgbClr val="E4F6F5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275320" y="4892040"/>
            <a:ext cx="68580" cy="914400"/>
          </a:xfrm>
          <a:prstGeom prst="rect">
            <a:avLst/>
          </a:prstGeom>
          <a:solidFill>
            <a:srgbClr val="189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76488" y="5056631"/>
            <a:ext cx="29260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2B4C"/>
                </a:solidFill>
                <a:latin typeface="Aptos"/>
              </a:rPr>
              <a:t>API source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6488" y="5468112"/>
            <a:ext cx="2880360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42F3D"/>
                </a:solidFill>
                <a:latin typeface="Aptos"/>
              </a:rPr>
              <a:t>GET /customers/high-risk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F6357DD-6209-6026-0F51-D7ED1383A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06" y="1645920"/>
            <a:ext cx="6056668" cy="4724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89497"/>
                </a:solidFill>
                <a:latin typeface="Aptos"/>
              </a:rPr>
              <a:t>FRONTEND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22B4C"/>
                </a:solidFill>
                <a:latin typeface="Aptos"/>
              </a:rPr>
              <a:t>Frontend Experience — Churn Prediction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11155680" cy="22860"/>
          </a:xfrm>
          <a:prstGeom prst="rect">
            <a:avLst/>
          </a:prstGeom>
          <a:solidFill>
            <a:srgbClr val="DB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27081"/>
                </a:solidFill>
                <a:latin typeface="Aptos"/>
              </a:rPr>
              <a:t>Based on the Customer Retention Intelligence System project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627081"/>
                </a:solidFill>
                <a:latin typeface="Aptos"/>
              </a:rPr>
              <a:t>10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1965960"/>
            <a:ext cx="3246120" cy="1234440"/>
          </a:xfrm>
          <a:prstGeom prst="roundRect">
            <a:avLst/>
          </a:prstGeom>
          <a:solidFill>
            <a:srgbClr val="FCF1E1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8275320" y="1965960"/>
            <a:ext cx="68580" cy="1234440"/>
          </a:xfrm>
          <a:prstGeom prst="rect">
            <a:avLst/>
          </a:prstGeom>
          <a:solidFill>
            <a:srgbClr val="E88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76488" y="2130552"/>
            <a:ext cx="29260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B4C"/>
                </a:solidFill>
                <a:latin typeface="Aptos"/>
              </a:rPr>
              <a:t>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2542032"/>
            <a:ext cx="2880360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42F3D"/>
                </a:solidFill>
                <a:latin typeface="Aptos"/>
              </a:rPr>
              <a:t>Tenure, monthly charges, contract type and service count.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3429000"/>
            <a:ext cx="3246120" cy="1234440"/>
          </a:xfrm>
          <a:prstGeom prst="roundRect">
            <a:avLst/>
          </a:prstGeom>
          <a:solidFill>
            <a:srgbClr val="EFEAF8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275320" y="3429000"/>
            <a:ext cx="68580" cy="1234440"/>
          </a:xfrm>
          <a:prstGeom prst="rect">
            <a:avLst/>
          </a:prstGeom>
          <a:solidFill>
            <a:srgbClr val="6F5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476488" y="3593592"/>
            <a:ext cx="29260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B4C"/>
                </a:solidFill>
                <a:latin typeface="Aptos"/>
              </a:rPr>
              <a:t>Output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6488" y="4005072"/>
            <a:ext cx="2880360" cy="5212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42F3D"/>
                </a:solidFill>
                <a:latin typeface="Aptos"/>
              </a:rPr>
              <a:t>Risk score + prediction; designed to work with the real ML model after the API stub.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4892040"/>
            <a:ext cx="3246120" cy="914400"/>
          </a:xfrm>
          <a:prstGeom prst="roundRect">
            <a:avLst/>
          </a:prstGeom>
          <a:solidFill>
            <a:srgbClr val="E5EFFA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275320" y="4892040"/>
            <a:ext cx="68580" cy="914400"/>
          </a:xfrm>
          <a:prstGeom prst="rect">
            <a:avLst/>
          </a:prstGeom>
          <a:solidFill>
            <a:srgbClr val="2A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476488" y="5056631"/>
            <a:ext cx="29260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2B4C"/>
                </a:solidFill>
                <a:latin typeface="Aptos"/>
              </a:rPr>
              <a:t>API source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6488" y="5468112"/>
            <a:ext cx="2880360" cy="2011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42F3D"/>
                </a:solidFill>
                <a:latin typeface="Aptos"/>
              </a:rPr>
              <a:t>POST /predict-churn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8067AEE-42B4-C975-9D4F-98C8FD72BA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1868" y="1737360"/>
            <a:ext cx="5991545" cy="4612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89497"/>
                </a:solidFill>
                <a:latin typeface="Aptos"/>
              </a:rP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22B4C"/>
                </a:solidFill>
                <a:latin typeface="Aptos"/>
              </a:rPr>
              <a:t>Technical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430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27081"/>
                </a:solidFill>
                <a:latin typeface="Aptos"/>
              </a:rPr>
              <a:t>Layered design separates ingestion, data, intelligence, serving and presentation.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11155680" cy="22860"/>
          </a:xfrm>
          <a:prstGeom prst="rect">
            <a:avLst/>
          </a:prstGeom>
          <a:solidFill>
            <a:srgbClr val="DB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27081"/>
                </a:solidFill>
                <a:latin typeface="Aptos"/>
              </a:rPr>
              <a:t>Based on the Customer Retention Intelligence System project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627081"/>
                </a:solidFill>
                <a:latin typeface="Aptos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74519"/>
            <a:ext cx="10835640" cy="713232"/>
          </a:xfrm>
          <a:prstGeom prst="roundRect">
            <a:avLst/>
          </a:prstGeom>
          <a:solidFill>
            <a:srgbClr val="E4F6F5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50392" y="2020824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49BCC2"/>
                </a:solidFill>
                <a:latin typeface="Aptos"/>
              </a:rP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23160" y="1993391"/>
            <a:ext cx="8732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22B4C"/>
                </a:solidFill>
                <a:latin typeface="Aptos"/>
              </a:rPr>
              <a:t>React • dashboard • customer search • high-risk list • prediction form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724912"/>
            <a:ext cx="10835640" cy="713232"/>
          </a:xfrm>
          <a:prstGeom prst="roundRect">
            <a:avLst/>
          </a:prstGeom>
          <a:solidFill>
            <a:srgbClr val="E5EFFA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50392" y="2871216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2A69B4"/>
                </a:solidFill>
                <a:latin typeface="Aptos"/>
              </a:rPr>
              <a:t>API / 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23160" y="2843784"/>
            <a:ext cx="8732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22B4C"/>
                </a:solidFill>
                <a:latin typeface="Aptos"/>
              </a:rPr>
              <a:t>FastAPI • Pydantic validation • service layer • SQLAlchemy • error handling • API key stub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575304"/>
            <a:ext cx="10835640" cy="713232"/>
          </a:xfrm>
          <a:prstGeom prst="roundRect">
            <a:avLst/>
          </a:prstGeom>
          <a:solidFill>
            <a:srgbClr val="E4F6F5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50392" y="3721608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189497"/>
                </a:solidFill>
                <a:latin typeface="Aptos"/>
              </a:rPr>
              <a:t>DATA / STORAGE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23160" y="3694176"/>
            <a:ext cx="8732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22B4C"/>
                </a:solidFill>
                <a:latin typeface="Aptos"/>
              </a:rPr>
              <a:t>Staging table → curated tables → ML feature table → customer risk table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425696"/>
            <a:ext cx="10835640" cy="713232"/>
          </a:xfrm>
          <a:prstGeom prst="roundRect">
            <a:avLst/>
          </a:prstGeom>
          <a:solidFill>
            <a:srgbClr val="EFEAF8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50392" y="4572000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6F53A8"/>
                </a:solidFill>
                <a:latin typeface="Aptos"/>
              </a:rPr>
              <a:t>DATA ENGINEERING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23160" y="4544568"/>
            <a:ext cx="8732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22B4C"/>
                </a:solidFill>
                <a:latin typeface="Aptos"/>
              </a:rPr>
              <a:t>Schema validation • cleaning • feature build • incremental upsert • quality gates • Airflow orchestration • PySpark path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5276088"/>
            <a:ext cx="10835640" cy="713232"/>
          </a:xfrm>
          <a:prstGeom prst="roundRect">
            <a:avLst/>
          </a:prstGeom>
          <a:solidFill>
            <a:srgbClr val="FCF1E1"/>
          </a:solidFill>
          <a:ln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50392" y="5422392"/>
            <a:ext cx="1508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E88F2C"/>
                </a:solidFill>
                <a:latin typeface="Aptos"/>
              </a:rPr>
              <a:t>MACHINE LEARNING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23160" y="5394959"/>
            <a:ext cx="87325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>
                <a:solidFill>
                  <a:srgbClr val="122B4C"/>
                </a:solidFill>
                <a:latin typeface="Aptos"/>
              </a:rPr>
              <a:t>Feature matrix → Logistic Regression / Decision Tree → interpretation → prediction → batch scoring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89497"/>
                </a:solidFill>
                <a:latin typeface="Aptos"/>
              </a:rP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22B4C"/>
                </a:solidFill>
                <a:latin typeface="Aptos"/>
              </a:rPr>
              <a:t>Data Engineering &amp; Quality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430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27081"/>
                </a:solidFill>
                <a:latin typeface="Aptos"/>
              </a:rPr>
              <a:t>The pipeline is designed to be repeatable, auditable and safe for downstream ML.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11155680" cy="22860"/>
          </a:xfrm>
          <a:prstGeom prst="rect">
            <a:avLst/>
          </a:prstGeom>
          <a:solidFill>
            <a:srgbClr val="DB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27081"/>
                </a:solidFill>
                <a:latin typeface="Aptos"/>
              </a:rPr>
              <a:t>Based on the Customer Retention Intelligence System project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627081"/>
                </a:solidFill>
                <a:latin typeface="Aptos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1480" y="2057400"/>
            <a:ext cx="1188720" cy="7498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A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4632" y="2130552"/>
            <a:ext cx="1042416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22B4C"/>
                </a:solidFill>
                <a:latin typeface="Aptos"/>
              </a:rPr>
              <a:t>Landing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889504"/>
            <a:ext cx="1188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627081"/>
                </a:solidFill>
                <a:latin typeface="Aptos"/>
              </a:rPr>
              <a:t>Incoming CSV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609344" y="2432304"/>
            <a:ext cx="201168" cy="0"/>
          </a:xfrm>
          <a:prstGeom prst="line">
            <a:avLst/>
          </a:prstGeom>
          <a:ln w="17780">
            <a:solidFill>
              <a:srgbClr val="DB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856232" y="2057400"/>
            <a:ext cx="1188720" cy="7498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894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929384" y="2130552"/>
            <a:ext cx="1042416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22B4C"/>
                </a:solidFill>
                <a:latin typeface="Aptos"/>
              </a:rPr>
              <a:t>Validate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56232" y="2889504"/>
            <a:ext cx="1188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627081"/>
                </a:solidFill>
                <a:latin typeface="Aptos"/>
              </a:rPr>
              <a:t>21-column schema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054096" y="2432304"/>
            <a:ext cx="201168" cy="0"/>
          </a:xfrm>
          <a:prstGeom prst="line">
            <a:avLst/>
          </a:prstGeom>
          <a:ln w="17780">
            <a:solidFill>
              <a:srgbClr val="DB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300984" y="2057400"/>
            <a:ext cx="1188720" cy="7498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F5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374136" y="2130552"/>
            <a:ext cx="1042416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22B4C"/>
                </a:solidFill>
                <a:latin typeface="Aptos"/>
              </a:rPr>
              <a:t>Stage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00984" y="2889504"/>
            <a:ext cx="1188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627081"/>
                </a:solidFill>
                <a:latin typeface="Aptos"/>
              </a:rPr>
              <a:t>stg_customer_raw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498848" y="2432304"/>
            <a:ext cx="201168" cy="0"/>
          </a:xfrm>
          <a:prstGeom prst="line">
            <a:avLst/>
          </a:prstGeom>
          <a:ln w="17780">
            <a:solidFill>
              <a:srgbClr val="DB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4745736" y="2057400"/>
            <a:ext cx="1188720" cy="7498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D9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818888" y="2130552"/>
            <a:ext cx="1042416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22B4C"/>
                </a:solidFill>
                <a:latin typeface="Aptos"/>
              </a:rPr>
              <a:t>Clean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45736" y="2889504"/>
            <a:ext cx="1188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627081"/>
                </a:solidFill>
                <a:latin typeface="Aptos"/>
              </a:rPr>
              <a:t>CustomerCleaner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43600" y="2432304"/>
            <a:ext cx="201168" cy="0"/>
          </a:xfrm>
          <a:prstGeom prst="line">
            <a:avLst/>
          </a:prstGeom>
          <a:ln w="17780">
            <a:solidFill>
              <a:srgbClr val="DB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190488" y="2057400"/>
            <a:ext cx="1188720" cy="7498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A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263640" y="2130552"/>
            <a:ext cx="1042416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22B4C"/>
                </a:solidFill>
                <a:latin typeface="Aptos"/>
              </a:rPr>
              <a:t>Curate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0488" y="2889504"/>
            <a:ext cx="1188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627081"/>
                </a:solidFill>
                <a:latin typeface="Aptos"/>
              </a:rPr>
              <a:t>Trusted tables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388352" y="2432304"/>
            <a:ext cx="201168" cy="0"/>
          </a:xfrm>
          <a:prstGeom prst="line">
            <a:avLst/>
          </a:prstGeom>
          <a:ln w="17780">
            <a:solidFill>
              <a:srgbClr val="DB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635240" y="2057400"/>
            <a:ext cx="1188720" cy="7498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88F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08392" y="2130552"/>
            <a:ext cx="1042416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22B4C"/>
                </a:solidFill>
                <a:latin typeface="Aptos"/>
              </a:rPr>
              <a:t>Features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35240" y="2889504"/>
            <a:ext cx="1188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627081"/>
                </a:solidFill>
                <a:latin typeface="Aptos"/>
              </a:rPr>
              <a:t>6 engineered features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833104" y="2432304"/>
            <a:ext cx="201168" cy="0"/>
          </a:xfrm>
          <a:prstGeom prst="line">
            <a:avLst/>
          </a:prstGeom>
          <a:ln w="17780">
            <a:solidFill>
              <a:srgbClr val="DB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9079992" y="2057400"/>
            <a:ext cx="1188720" cy="7498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4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9153144" y="2130552"/>
            <a:ext cx="1042416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22B4C"/>
                </a:solidFill>
                <a:latin typeface="Aptos"/>
              </a:rPr>
              <a:t>Quality Gate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79992" y="2889504"/>
            <a:ext cx="1188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627081"/>
                </a:solidFill>
                <a:latin typeface="Aptos"/>
              </a:rPr>
              <a:t>PASS / FAIL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0277856" y="2432304"/>
            <a:ext cx="201168" cy="0"/>
          </a:xfrm>
          <a:prstGeom prst="line">
            <a:avLst/>
          </a:prstGeom>
          <a:ln w="17780">
            <a:solidFill>
              <a:srgbClr val="DB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10524744" y="2057400"/>
            <a:ext cx="1188720" cy="7498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F5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597896" y="2130552"/>
            <a:ext cx="1042416" cy="603503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22B4C"/>
                </a:solidFill>
                <a:latin typeface="Aptos"/>
              </a:rPr>
              <a:t>Score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24744" y="2889504"/>
            <a:ext cx="1188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627081"/>
                </a:solidFill>
                <a:latin typeface="Aptos"/>
              </a:rPr>
              <a:t>Risk table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94360" y="3977639"/>
            <a:ext cx="3474720" cy="1325880"/>
          </a:xfrm>
          <a:prstGeom prst="roundRect">
            <a:avLst/>
          </a:prstGeom>
          <a:solidFill>
            <a:srgbClr val="E5EFFA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594360" y="3977639"/>
            <a:ext cx="68580" cy="1325880"/>
          </a:xfrm>
          <a:prstGeom prst="rect">
            <a:avLst/>
          </a:prstGeom>
          <a:solidFill>
            <a:srgbClr val="2A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95528" y="4142231"/>
            <a:ext cx="31546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B4C"/>
                </a:solidFill>
                <a:latin typeface="Aptos"/>
              </a:rPr>
              <a:t>Idempotency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5528" y="4553712"/>
            <a:ext cx="3108960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42F3D"/>
                </a:solidFill>
                <a:latin typeface="Aptos"/>
              </a:rPr>
              <a:t>Upsert logic handles new, updated and unchanged customers without duplicate creation.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343400" y="3977639"/>
            <a:ext cx="3474720" cy="1325880"/>
          </a:xfrm>
          <a:prstGeom prst="roundRect">
            <a:avLst/>
          </a:prstGeom>
          <a:solidFill>
            <a:srgbClr val="FAE8E8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4343400" y="3977639"/>
            <a:ext cx="68580" cy="1325880"/>
          </a:xfrm>
          <a:prstGeom prst="rect">
            <a:avLst/>
          </a:prstGeom>
          <a:solidFill>
            <a:srgbClr val="CD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544568" y="4142231"/>
            <a:ext cx="31546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B4C"/>
                </a:solidFill>
                <a:latin typeface="Aptos"/>
              </a:rPr>
              <a:t>Data quality as code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44568" y="4553712"/>
            <a:ext cx="3108960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42F3D"/>
                </a:solidFill>
                <a:latin typeface="Aptos"/>
              </a:rPr>
              <a:t>Null, range, allowed-value, row-count and duplicate checks create a JSON quality report.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92440" y="3977639"/>
            <a:ext cx="3474720" cy="1325880"/>
          </a:xfrm>
          <a:prstGeom prst="roundRect">
            <a:avLst/>
          </a:prstGeom>
          <a:solidFill>
            <a:srgbClr val="EFEAF8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8092440" y="3977639"/>
            <a:ext cx="68580" cy="1325880"/>
          </a:xfrm>
          <a:prstGeom prst="rect">
            <a:avLst/>
          </a:prstGeom>
          <a:solidFill>
            <a:srgbClr val="6F5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8293608" y="4142231"/>
            <a:ext cx="31546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B4C"/>
                </a:solidFill>
                <a:latin typeface="Aptos"/>
              </a:rPr>
              <a:t>Orchestration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93608" y="4553712"/>
            <a:ext cx="3108960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42F3D"/>
                </a:solidFill>
                <a:latin typeface="Aptos"/>
              </a:rPr>
              <a:t>Airflow is used to turn the standalone pipeline stages into an automated flow.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89497"/>
                </a:solidFill>
                <a:latin typeface="Aptos"/>
              </a:rP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22B4C"/>
                </a:solidFill>
                <a:latin typeface="Aptos"/>
              </a:rPr>
              <a:t>Data Model &amp; API Surface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430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27081"/>
                </a:solidFill>
                <a:latin typeface="Aptos"/>
              </a:rPr>
              <a:t>A curated relational model becomes the stable serving contract for the application.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11155680" cy="22860"/>
          </a:xfrm>
          <a:prstGeom prst="rect">
            <a:avLst/>
          </a:prstGeom>
          <a:solidFill>
            <a:srgbClr val="DB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27081"/>
                </a:solidFill>
                <a:latin typeface="Aptos"/>
              </a:rPr>
              <a:t>Based on the Customer Retention Intelligence System project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627081"/>
                </a:solidFill>
                <a:latin typeface="Aptos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920240"/>
            <a:ext cx="1965960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A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1" y="1993392"/>
            <a:ext cx="1819656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22B4C"/>
                </a:solidFill>
                <a:latin typeface="Aptos"/>
              </a:rPr>
              <a:t>customers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880360"/>
            <a:ext cx="18745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627081"/>
                </a:solidFill>
                <a:latin typeface="Aptos"/>
              </a:rPr>
              <a:t>identity + profile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34640" y="1920240"/>
            <a:ext cx="1965960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894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07792" y="1993392"/>
            <a:ext cx="1819656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22B4C"/>
                </a:solidFill>
                <a:latin typeface="Aptos"/>
              </a:rPr>
              <a:t>dim_contract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880360"/>
            <a:ext cx="18745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627081"/>
                </a:solidFill>
                <a:latin typeface="Aptos"/>
              </a:rPr>
              <a:t>contract dimension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1920240"/>
            <a:ext cx="1965960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894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102352" y="1993392"/>
            <a:ext cx="1819656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22B4C"/>
                </a:solidFill>
                <a:latin typeface="Aptos"/>
              </a:rPr>
              <a:t>dim_payment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2880360"/>
            <a:ext cx="18745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627081"/>
                </a:solidFill>
                <a:latin typeface="Aptos"/>
              </a:rPr>
              <a:t>payment dimension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1920240"/>
            <a:ext cx="1965960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F5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296912" y="1993392"/>
            <a:ext cx="1819656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22B4C"/>
                </a:solidFill>
                <a:latin typeface="Aptos"/>
              </a:rPr>
              <a:t>fact_customer_account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2880360"/>
            <a:ext cx="1874519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627081"/>
                </a:solidFill>
                <a:latin typeface="Aptos"/>
              </a:rPr>
              <a:t>tenure + charges + churn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418320" y="1920240"/>
            <a:ext cx="2057400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88F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491472" y="1993392"/>
            <a:ext cx="1911095" cy="7680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>
                <a:solidFill>
                  <a:srgbClr val="122B4C"/>
                </a:solidFill>
                <a:latin typeface="Aptos"/>
              </a:rPr>
              <a:t>customer_ml_features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64040" y="2880360"/>
            <a:ext cx="1965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>
                <a:solidFill>
                  <a:srgbClr val="627081"/>
                </a:solidFill>
                <a:latin typeface="Aptos"/>
              </a:rPr>
              <a:t>ML-ready feature table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3657600"/>
            <a:ext cx="333756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40080" y="3657600"/>
            <a:ext cx="68580" cy="749808"/>
          </a:xfrm>
          <a:prstGeom prst="rect">
            <a:avLst/>
          </a:prstGeom>
          <a:solidFill>
            <a:srgbClr val="2A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41247" y="3822191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22B4C"/>
                </a:solidFill>
                <a:latin typeface="Aptos"/>
              </a:rPr>
              <a:t>GET /customer/{id}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7" y="4233672"/>
            <a:ext cx="2971800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242F3D"/>
                </a:solidFill>
                <a:latin typeface="Aptos"/>
              </a:rPr>
              <a:t>Customer profile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3657600"/>
            <a:ext cx="333756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343400" y="3657600"/>
            <a:ext cx="68580" cy="749808"/>
          </a:xfrm>
          <a:prstGeom prst="rect">
            <a:avLst/>
          </a:prstGeom>
          <a:solidFill>
            <a:srgbClr val="189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544568" y="3822191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22B4C"/>
                </a:solidFill>
                <a:latin typeface="Aptos"/>
              </a:rPr>
              <a:t>GET /churn/summary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44568" y="4233672"/>
            <a:ext cx="2971800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242F3D"/>
                </a:solidFill>
                <a:latin typeface="Aptos"/>
              </a:rPr>
              <a:t>Executive KPIs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19" y="3657600"/>
            <a:ext cx="333756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046719" y="3657600"/>
            <a:ext cx="68580" cy="749808"/>
          </a:xfrm>
          <a:prstGeom prst="rect">
            <a:avLst/>
          </a:prstGeom>
          <a:solidFill>
            <a:srgbClr val="CD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247888" y="3822191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22B4C"/>
                </a:solidFill>
                <a:latin typeface="Aptos"/>
              </a:rPr>
              <a:t>GET /customers/high-risk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47888" y="4233672"/>
            <a:ext cx="2971800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242F3D"/>
                </a:solidFill>
                <a:latin typeface="Aptos"/>
              </a:rPr>
              <a:t>Rule-based priority list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" y="4617720"/>
            <a:ext cx="333756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40080" y="4617720"/>
            <a:ext cx="68580" cy="749808"/>
          </a:xfrm>
          <a:prstGeom prst="rect">
            <a:avLst/>
          </a:prstGeom>
          <a:solidFill>
            <a:srgbClr val="6F5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41247" y="4782312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22B4C"/>
                </a:solidFill>
                <a:latin typeface="Aptos"/>
              </a:rPr>
              <a:t>GET /customer/{id}/features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1247" y="5193792"/>
            <a:ext cx="2971800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242F3D"/>
                </a:solidFill>
                <a:latin typeface="Aptos"/>
              </a:rPr>
              <a:t>ML feature vector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343400" y="4617720"/>
            <a:ext cx="3337560" cy="74980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4343400" y="4617720"/>
            <a:ext cx="68580" cy="749808"/>
          </a:xfrm>
          <a:prstGeom prst="rect">
            <a:avLst/>
          </a:prstGeom>
          <a:solidFill>
            <a:srgbClr val="E88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4544568" y="4782312"/>
            <a:ext cx="30175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>
                <a:solidFill>
                  <a:srgbClr val="122B4C"/>
                </a:solidFill>
                <a:latin typeface="Aptos"/>
              </a:rPr>
              <a:t>POST /predict-churn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44568" y="5193792"/>
            <a:ext cx="2971800" cy="365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0">
                <a:solidFill>
                  <a:srgbClr val="242F3D"/>
                </a:solidFill>
                <a:latin typeface="Aptos"/>
              </a:rPr>
              <a:t>Prediction contract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89497"/>
                </a:solidFill>
                <a:latin typeface="Aptos"/>
              </a:rP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22B4C"/>
                </a:solidFill>
                <a:latin typeface="Aptos"/>
              </a:rPr>
              <a:t>Machine Learning: From Baseline to Batch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430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27081"/>
                </a:solidFill>
                <a:latin typeface="Aptos"/>
              </a:rPr>
              <a:t>The ML layer is built for both prediction and explainability.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11155680" cy="22860"/>
          </a:xfrm>
          <a:prstGeom prst="rect">
            <a:avLst/>
          </a:prstGeom>
          <a:solidFill>
            <a:srgbClr val="DB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27081"/>
                </a:solidFill>
                <a:latin typeface="Aptos"/>
              </a:rPr>
              <a:t>Based on the Customer Retention Intelligence System project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627081"/>
                </a:solidFill>
                <a:latin typeface="Aptos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874519"/>
            <a:ext cx="2057400" cy="3429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1874519"/>
            <a:ext cx="68580" cy="3429000"/>
          </a:xfrm>
          <a:prstGeom prst="rect">
            <a:avLst/>
          </a:prstGeom>
          <a:solidFill>
            <a:srgbClr val="2A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04088" y="2039112"/>
            <a:ext cx="1737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B4C"/>
                </a:solidFill>
                <a:latin typeface="Aptos"/>
              </a:rPr>
              <a:t>Feature engineering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450591"/>
            <a:ext cx="1691640" cy="2715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42F3D"/>
                </a:solidFill>
                <a:latin typeface="Aptos"/>
              </a:rPr>
              <a:t>tenure_bucket
high_charge_flag
service_count
is_long_term_customer
has_streaming_bundle
auto_pay_flag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587752" y="3584448"/>
            <a:ext cx="182880" cy="0"/>
          </a:xfrm>
          <a:prstGeom prst="line">
            <a:avLst/>
          </a:prstGeom>
          <a:ln w="19050">
            <a:solidFill>
              <a:srgbClr val="DB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816352" y="1874519"/>
            <a:ext cx="2057400" cy="3429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816352" y="1874519"/>
            <a:ext cx="68580" cy="3429000"/>
          </a:xfrm>
          <a:prstGeom prst="rect">
            <a:avLst/>
          </a:prstGeom>
          <a:solidFill>
            <a:srgbClr val="189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017520" y="2039112"/>
            <a:ext cx="1737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B4C"/>
                </a:solidFill>
                <a:latin typeface="Aptos"/>
              </a:rPr>
              <a:t>Model comparison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2450591"/>
            <a:ext cx="1691640" cy="2715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42F3D"/>
                </a:solidFill>
                <a:latin typeface="Aptos"/>
              </a:rPr>
              <a:t>Logistic Regression
vs
Decision Tree
Select using churn-class F1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4901183" y="3584448"/>
            <a:ext cx="182881" cy="0"/>
          </a:xfrm>
          <a:prstGeom prst="line">
            <a:avLst/>
          </a:prstGeom>
          <a:ln w="19050">
            <a:solidFill>
              <a:srgbClr val="DB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129783" y="1874519"/>
            <a:ext cx="2057400" cy="3429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129783" y="1874519"/>
            <a:ext cx="68580" cy="3429000"/>
          </a:xfrm>
          <a:prstGeom prst="rect">
            <a:avLst/>
          </a:prstGeom>
          <a:solidFill>
            <a:srgbClr val="6F5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330951" y="2039112"/>
            <a:ext cx="1737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B4C"/>
                </a:solidFill>
                <a:latin typeface="Aptos"/>
              </a:rPr>
              <a:t>Interpretability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30951" y="2450591"/>
            <a:ext cx="1691640" cy="2715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42F3D"/>
                </a:solidFill>
                <a:latin typeface="Aptos"/>
              </a:rPr>
              <a:t>Coefficients / feature importance
+ top-risk customers
+ comparison with SQL rules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214615" y="3584448"/>
            <a:ext cx="182881" cy="0"/>
          </a:xfrm>
          <a:prstGeom prst="line">
            <a:avLst/>
          </a:prstGeom>
          <a:ln w="19050">
            <a:solidFill>
              <a:srgbClr val="DB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443216" y="1874519"/>
            <a:ext cx="2057400" cy="3429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443216" y="1874519"/>
            <a:ext cx="68580" cy="3429000"/>
          </a:xfrm>
          <a:prstGeom prst="rect">
            <a:avLst/>
          </a:prstGeom>
          <a:solidFill>
            <a:srgbClr val="E88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644384" y="2039112"/>
            <a:ext cx="1737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B4C"/>
                </a:solidFill>
                <a:latin typeface="Aptos"/>
              </a:rPr>
              <a:t>Prediction 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44384" y="2450591"/>
            <a:ext cx="1691640" cy="2715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42F3D"/>
                </a:solidFill>
                <a:latin typeface="Aptos"/>
              </a:rPr>
              <a:t>Load selected model
and return risk score
+ prediction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528048" y="3584448"/>
            <a:ext cx="182880" cy="0"/>
          </a:xfrm>
          <a:prstGeom prst="line">
            <a:avLst/>
          </a:prstGeom>
          <a:ln w="19050">
            <a:solidFill>
              <a:srgbClr val="DB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9756648" y="1874519"/>
            <a:ext cx="2057400" cy="342900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9756648" y="1874519"/>
            <a:ext cx="68580" cy="3429000"/>
          </a:xfrm>
          <a:prstGeom prst="rect">
            <a:avLst/>
          </a:prstGeom>
          <a:solidFill>
            <a:srgbClr val="2D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957816" y="2039112"/>
            <a:ext cx="17373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B4C"/>
                </a:solidFill>
                <a:latin typeface="Aptos"/>
              </a:rPr>
              <a:t>Batch scoring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57816" y="2450591"/>
            <a:ext cx="1691640" cy="27157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42F3D"/>
                </a:solidFill>
                <a:latin typeface="Aptos"/>
              </a:rPr>
              <a:t>Score all customers
→ customer_risk_table
→ dashboard / API / future AI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5800" y="5623560"/>
            <a:ext cx="10789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50" b="1">
                <a:solidFill>
                  <a:srgbClr val="122B4C"/>
                </a:solidFill>
                <a:latin typeface="Aptos"/>
              </a:rPr>
              <a:t>Key design principle: a churn model is not the endpoint — the scored risk table is what makes predictions operational.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89497"/>
                </a:solidFill>
                <a:latin typeface="Aptos"/>
              </a:rP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22B4C"/>
                </a:solidFill>
                <a:latin typeface="Aptos"/>
              </a:rPr>
              <a:t>Explainability, Validation &amp; Operational Discipline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430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27081"/>
                </a:solidFill>
                <a:latin typeface="Aptos"/>
              </a:rPr>
              <a:t>Trust is built into the workflow rather than added after deployment.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11155680" cy="22860"/>
          </a:xfrm>
          <a:prstGeom prst="rect">
            <a:avLst/>
          </a:prstGeom>
          <a:solidFill>
            <a:srgbClr val="DB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27081"/>
                </a:solidFill>
                <a:latin typeface="Aptos"/>
              </a:rPr>
              <a:t>Based on the Customer Retention Intelligence System project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627081"/>
                </a:solidFill>
                <a:latin typeface="Aptos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3429000" cy="1417320"/>
          </a:xfrm>
          <a:prstGeom prst="roundRect">
            <a:avLst/>
          </a:prstGeom>
          <a:solidFill>
            <a:srgbClr val="EFEAF8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874519"/>
            <a:ext cx="68580" cy="1417320"/>
          </a:xfrm>
          <a:prstGeom prst="rect">
            <a:avLst/>
          </a:prstGeom>
          <a:solidFill>
            <a:srgbClr val="6F5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2039112"/>
            <a:ext cx="3108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C"/>
                </a:solidFill>
                <a:latin typeface="Aptos"/>
              </a:rPr>
              <a:t>Explainability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450591"/>
            <a:ext cx="3063240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42F3D"/>
                </a:solidFill>
                <a:latin typeface="Aptos"/>
              </a:rPr>
              <a:t>Rule-based high-risk view includes a risk_reason. ML interpretation surfaces influential features and high-risk customers.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874519"/>
            <a:ext cx="3429000" cy="1417320"/>
          </a:xfrm>
          <a:prstGeom prst="roundRect">
            <a:avLst/>
          </a:prstGeom>
          <a:solidFill>
            <a:srgbClr val="E5EFFA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89120" y="1874519"/>
            <a:ext cx="68580" cy="1417320"/>
          </a:xfrm>
          <a:prstGeom prst="rect">
            <a:avLst/>
          </a:prstGeom>
          <a:solidFill>
            <a:srgbClr val="2A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90288" y="2039112"/>
            <a:ext cx="3108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C"/>
                </a:solidFill>
                <a:latin typeface="Aptos"/>
              </a:rPr>
              <a:t>Validation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90288" y="2450591"/>
            <a:ext cx="3063240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42F3D"/>
                </a:solidFill>
                <a:latin typeface="Aptos"/>
              </a:rPr>
              <a:t>Pydantic validates API payloads; database failures return consistent errors; data quality gates can stop the pipeline.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874519"/>
            <a:ext cx="3429000" cy="1417320"/>
          </a:xfrm>
          <a:prstGeom prst="roundRect">
            <a:avLst/>
          </a:prstGeom>
          <a:solidFill>
            <a:srgbClr val="E4F6F5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138160" y="1874519"/>
            <a:ext cx="68580" cy="1417320"/>
          </a:xfrm>
          <a:prstGeom prst="rect">
            <a:avLst/>
          </a:prstGeom>
          <a:solidFill>
            <a:srgbClr val="189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39328" y="2039112"/>
            <a:ext cx="3108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C"/>
                </a:solidFill>
                <a:latin typeface="Aptos"/>
              </a:rPr>
              <a:t>Auditability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8" y="2450591"/>
            <a:ext cx="3063240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42F3D"/>
                </a:solidFill>
                <a:latin typeface="Aptos"/>
              </a:rPr>
              <a:t>Ingestion and pipeline logs capture status, counts, timestamps and reasons; quality reports are persisted as JSON.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657600"/>
            <a:ext cx="3429000" cy="141732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0080" y="3657600"/>
            <a:ext cx="68580" cy="1417320"/>
          </a:xfrm>
          <a:prstGeom prst="rect">
            <a:avLst/>
          </a:prstGeom>
          <a:solidFill>
            <a:srgbClr val="2D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7" y="3822191"/>
            <a:ext cx="3108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C"/>
                </a:solidFill>
                <a:latin typeface="Aptos"/>
              </a:rPr>
              <a:t>Observability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4233672"/>
            <a:ext cx="3063240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42F3D"/>
                </a:solidFill>
                <a:latin typeface="Aptos"/>
              </a:rPr>
              <a:t>Logging is included across cleaning, pipeline stages and API routes, giving visibility into processing and requests.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89120" y="3657600"/>
            <a:ext cx="3429000" cy="1417320"/>
          </a:xfrm>
          <a:prstGeom prst="roundRect">
            <a:avLst/>
          </a:prstGeom>
          <a:solidFill>
            <a:srgbClr val="FCF1E1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89120" y="3657600"/>
            <a:ext cx="68580" cy="1417320"/>
          </a:xfrm>
          <a:prstGeom prst="rect">
            <a:avLst/>
          </a:prstGeom>
          <a:solidFill>
            <a:srgbClr val="E88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90288" y="3822191"/>
            <a:ext cx="3108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C"/>
                </a:solidFill>
                <a:latin typeface="Aptos"/>
              </a:rPr>
              <a:t>Security baseline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0288" y="4233672"/>
            <a:ext cx="3063240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42F3D"/>
                </a:solidFill>
                <a:latin typeface="Aptos"/>
              </a:rPr>
              <a:t>The API phase adds an environment-based API key check and consistent 401 handling as a basic authentication layer.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8160" y="3657600"/>
            <a:ext cx="3429000" cy="1417320"/>
          </a:xfrm>
          <a:prstGeom prst="roundRect">
            <a:avLst/>
          </a:prstGeom>
          <a:solidFill>
            <a:srgbClr val="FAE8E8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138160" y="3657600"/>
            <a:ext cx="68580" cy="1417320"/>
          </a:xfrm>
          <a:prstGeom prst="rect">
            <a:avLst/>
          </a:prstGeom>
          <a:solidFill>
            <a:srgbClr val="CD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39328" y="3822191"/>
            <a:ext cx="31089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C"/>
                </a:solidFill>
                <a:latin typeface="Aptos"/>
              </a:rPr>
              <a:t>Failure behavior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9328" y="4233672"/>
            <a:ext cx="3063240" cy="7040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42F3D"/>
                </a:solidFill>
                <a:latin typeface="Aptos"/>
              </a:rPr>
              <a:t>Critical quality failures raise errors and stop downstream processing instead of silently propagating bad data.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89497"/>
                </a:solidFill>
                <a:latin typeface="Aptos"/>
              </a:rPr>
              <a:t>TECHNICAL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22B4C"/>
                </a:solidFill>
                <a:latin typeface="Aptos"/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430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27081"/>
                </a:solidFill>
                <a:latin typeface="Aptos"/>
              </a:rPr>
              <a:t>Practical components mapped to clear responsibilities.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11155680" cy="22860"/>
          </a:xfrm>
          <a:prstGeom prst="rect">
            <a:avLst/>
          </a:prstGeom>
          <a:solidFill>
            <a:srgbClr val="DB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27081"/>
                </a:solidFill>
                <a:latin typeface="Aptos"/>
              </a:rPr>
              <a:t>Based on the Customer Retention Intelligence System project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627081"/>
                </a:solidFill>
                <a:latin typeface="Aptos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74519"/>
            <a:ext cx="256032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874519"/>
            <a:ext cx="68580" cy="1325880"/>
          </a:xfrm>
          <a:prstGeom prst="rect">
            <a:avLst/>
          </a:prstGeom>
          <a:solidFill>
            <a:srgbClr val="2A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2039112"/>
            <a:ext cx="22402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B4C"/>
                </a:solidFill>
                <a:latin typeface="Aptos"/>
              </a:rPr>
              <a:t>Python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450591"/>
            <a:ext cx="2194560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42F3D"/>
                </a:solidFill>
                <a:latin typeface="Aptos"/>
              </a:rPr>
              <a:t>Cleaning, feature engineering, pipeline utilities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56432" y="1874519"/>
            <a:ext cx="256032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56432" y="1874519"/>
            <a:ext cx="68580" cy="1325880"/>
          </a:xfrm>
          <a:prstGeom prst="rect">
            <a:avLst/>
          </a:prstGeom>
          <a:solidFill>
            <a:srgbClr val="189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0" y="2039112"/>
            <a:ext cx="22402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B4C"/>
                </a:solidFill>
                <a:latin typeface="Aptos"/>
              </a:rPr>
              <a:t>Pandas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450591"/>
            <a:ext cx="2194560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42F3D"/>
                </a:solidFill>
                <a:latin typeface="Aptos"/>
              </a:rPr>
              <a:t>Profiling, transformation and batch feature logic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72784" y="1874519"/>
            <a:ext cx="256032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72784" y="1874519"/>
            <a:ext cx="68580" cy="1325880"/>
          </a:xfrm>
          <a:prstGeom prst="rect">
            <a:avLst/>
          </a:prstGeom>
          <a:solidFill>
            <a:srgbClr val="6F5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73952" y="2039112"/>
            <a:ext cx="22402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B4C"/>
                </a:solidFill>
                <a:latin typeface="Aptos"/>
              </a:rPr>
              <a:t>SQL + SQLAlchemy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2450591"/>
            <a:ext cx="2194560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42F3D"/>
                </a:solidFill>
                <a:latin typeface="Aptos"/>
              </a:rPr>
              <a:t>Relational storage, queries, ORM and upserts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89136" y="1874519"/>
            <a:ext cx="256032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089136" y="1874519"/>
            <a:ext cx="68580" cy="1325880"/>
          </a:xfrm>
          <a:prstGeom prst="rect">
            <a:avLst/>
          </a:prstGeom>
          <a:solidFill>
            <a:srgbClr val="2A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90304" y="2039112"/>
            <a:ext cx="22402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B4C"/>
                </a:solidFill>
                <a:latin typeface="Aptos"/>
              </a:rPr>
              <a:t>FastAPI + Pydantic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0304" y="2450591"/>
            <a:ext cx="2194560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42F3D"/>
                </a:solidFill>
                <a:latin typeface="Aptos"/>
              </a:rPr>
              <a:t>REST APIs, validation and service layer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3566160"/>
            <a:ext cx="256032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0080" y="3566160"/>
            <a:ext cx="68580" cy="1325880"/>
          </a:xfrm>
          <a:prstGeom prst="rect">
            <a:avLst/>
          </a:prstGeom>
          <a:solidFill>
            <a:srgbClr val="49B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41247" y="3730752"/>
            <a:ext cx="22402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B4C"/>
                </a:solidFill>
                <a:latin typeface="Aptos"/>
              </a:rPr>
              <a:t>React + Axios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7" y="4142232"/>
            <a:ext cx="2194560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42F3D"/>
                </a:solidFill>
                <a:latin typeface="Aptos"/>
              </a:rPr>
              <a:t>Dashboard and API-consuming UI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56432" y="3566160"/>
            <a:ext cx="256032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3456432" y="3566160"/>
            <a:ext cx="68580" cy="1325880"/>
          </a:xfrm>
          <a:prstGeom prst="rect">
            <a:avLst/>
          </a:prstGeom>
          <a:solidFill>
            <a:srgbClr val="E88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57600" y="3730752"/>
            <a:ext cx="22402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B4C"/>
                </a:solidFill>
                <a:latin typeface="Aptos"/>
              </a:rPr>
              <a:t>Airflow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0" y="4142232"/>
            <a:ext cx="2194560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42F3D"/>
                </a:solidFill>
                <a:latin typeface="Aptos"/>
              </a:rPr>
              <a:t>Pipeline orchestration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72784" y="3566160"/>
            <a:ext cx="256032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6272784" y="3566160"/>
            <a:ext cx="68580" cy="1325880"/>
          </a:xfrm>
          <a:prstGeom prst="rect">
            <a:avLst/>
          </a:prstGeom>
          <a:solidFill>
            <a:srgbClr val="2D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73952" y="3730752"/>
            <a:ext cx="22402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B4C"/>
                </a:solidFill>
                <a:latin typeface="Aptos"/>
              </a:rPr>
              <a:t>PySpark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73952" y="4142232"/>
            <a:ext cx="2194560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42F3D"/>
                </a:solidFill>
                <a:latin typeface="Aptos"/>
              </a:rPr>
              <a:t>Scalable DataFrame processing path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89136" y="3566160"/>
            <a:ext cx="256032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089136" y="3566160"/>
            <a:ext cx="68580" cy="1325880"/>
          </a:xfrm>
          <a:prstGeom prst="rect">
            <a:avLst/>
          </a:prstGeom>
          <a:solidFill>
            <a:srgbClr val="CD49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290304" y="3730752"/>
            <a:ext cx="22402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22B4C"/>
                </a:solidFill>
                <a:latin typeface="Aptos"/>
              </a:rPr>
              <a:t>scikit-learn + joblib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90304" y="4142232"/>
            <a:ext cx="2194560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50" b="0">
                <a:solidFill>
                  <a:srgbClr val="242F3D"/>
                </a:solidFill>
                <a:latin typeface="Aptos"/>
              </a:rPr>
              <a:t>Churn models, evaluation and model persistence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89497"/>
                </a:solidFill>
                <a:latin typeface="Aptos"/>
              </a:rPr>
              <a:t>TECHNICAL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22B4C"/>
                </a:solidFill>
                <a:latin typeface="Aptos"/>
              </a:rPr>
              <a:t>End-to-End Technical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430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27081"/>
                </a:solidFill>
                <a:latin typeface="Aptos"/>
              </a:rPr>
              <a:t>How a customer record travels from source data to a business decision.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11155680" cy="22860"/>
          </a:xfrm>
          <a:prstGeom prst="rect">
            <a:avLst/>
          </a:prstGeom>
          <a:solidFill>
            <a:srgbClr val="DB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27081"/>
                </a:solidFill>
                <a:latin typeface="Aptos"/>
              </a:rPr>
              <a:t>Based on the Customer Retention Intelligence System project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627081"/>
                </a:solidFill>
                <a:latin typeface="Aptos"/>
              </a:rPr>
              <a:t>17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920240"/>
            <a:ext cx="1965960" cy="822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2A69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" y="1993392"/>
            <a:ext cx="1819656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22B4C"/>
                </a:solidFill>
                <a:latin typeface="Aptos"/>
              </a:rPr>
              <a:t>Customer Extract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83464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27081"/>
                </a:solidFill>
                <a:latin typeface="Aptos"/>
              </a:rPr>
              <a:t>CSV snapshot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880360" y="1920240"/>
            <a:ext cx="1965960" cy="822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894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953512" y="1993392"/>
            <a:ext cx="1819656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22B4C"/>
                </a:solidFill>
                <a:latin typeface="Aptos"/>
              </a:rPr>
              <a:t>Data Quality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83464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27081"/>
                </a:solidFill>
                <a:latin typeface="Aptos"/>
              </a:rPr>
              <a:t>schema + checks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166360" y="1920240"/>
            <a:ext cx="1965960" cy="822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6F5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239512" y="1993392"/>
            <a:ext cx="1819656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22B4C"/>
                </a:solidFill>
                <a:latin typeface="Aptos"/>
              </a:rPr>
              <a:t>Trusted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66360" y="283464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27081"/>
                </a:solidFill>
                <a:latin typeface="Aptos"/>
              </a:rPr>
              <a:t>curated SQL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52360" y="1920240"/>
            <a:ext cx="1965960" cy="822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E88F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525512" y="1993392"/>
            <a:ext cx="1819656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22B4C"/>
                </a:solidFill>
                <a:latin typeface="Aptos"/>
              </a:rPr>
              <a:t>ML Features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60" y="283464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27081"/>
                </a:solidFill>
                <a:latin typeface="Aptos"/>
              </a:rPr>
              <a:t>6 derived features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738360" y="1920240"/>
            <a:ext cx="1965960" cy="822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CD49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811512" y="1993392"/>
            <a:ext cx="1819656" cy="67665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122B4C"/>
                </a:solidFill>
                <a:latin typeface="Aptos"/>
              </a:rPr>
              <a:t>Risk 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38360" y="2834640"/>
            <a:ext cx="1965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0">
                <a:solidFill>
                  <a:srgbClr val="627081"/>
                </a:solidFill>
                <a:latin typeface="Aptos"/>
              </a:rPr>
              <a:t>batch / API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578608" y="2331720"/>
            <a:ext cx="256032" cy="0"/>
          </a:xfrm>
          <a:prstGeom prst="line">
            <a:avLst/>
          </a:prstGeom>
          <a:ln w="22860">
            <a:solidFill>
              <a:srgbClr val="DB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4864608" y="2331720"/>
            <a:ext cx="256032" cy="0"/>
          </a:xfrm>
          <a:prstGeom prst="line">
            <a:avLst/>
          </a:prstGeom>
          <a:ln w="22860">
            <a:solidFill>
              <a:srgbClr val="DB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7150608" y="2331720"/>
            <a:ext cx="256032" cy="0"/>
          </a:xfrm>
          <a:prstGeom prst="line">
            <a:avLst/>
          </a:prstGeom>
          <a:ln w="22860">
            <a:solidFill>
              <a:srgbClr val="DB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9436608" y="2331720"/>
            <a:ext cx="256032" cy="0"/>
          </a:xfrm>
          <a:prstGeom prst="line">
            <a:avLst/>
          </a:prstGeom>
          <a:ln w="22860">
            <a:solidFill>
              <a:srgbClr val="DBE2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40080" y="3794760"/>
            <a:ext cx="10972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1">
                <a:solidFill>
                  <a:srgbClr val="122B4C"/>
                </a:solidFill>
                <a:latin typeface="Aptos"/>
              </a:rPr>
              <a:t>Operational outputs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297680"/>
            <a:ext cx="251460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640080" y="4297680"/>
            <a:ext cx="68580" cy="1097280"/>
          </a:xfrm>
          <a:prstGeom prst="rect">
            <a:avLst/>
          </a:prstGeom>
          <a:solidFill>
            <a:srgbClr val="49BC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41247" y="4462272"/>
            <a:ext cx="2194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C"/>
                </a:solidFill>
                <a:latin typeface="Aptos"/>
              </a:rPr>
              <a:t>Retention dashboard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7" y="4873752"/>
            <a:ext cx="2148840" cy="3840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42F3D"/>
                </a:solidFill>
                <a:latin typeface="Aptos"/>
              </a:rPr>
              <a:t>KPIs + high-risk customers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29000" y="4297680"/>
            <a:ext cx="251460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3429000" y="4297680"/>
            <a:ext cx="68580" cy="1097280"/>
          </a:xfrm>
          <a:prstGeom prst="rect">
            <a:avLst/>
          </a:prstGeom>
          <a:solidFill>
            <a:srgbClr val="2A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630168" y="4462272"/>
            <a:ext cx="2194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C"/>
                </a:solidFill>
                <a:latin typeface="Aptos"/>
              </a:rPr>
              <a:t>Customer support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30168" y="4873752"/>
            <a:ext cx="2148840" cy="3840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42F3D"/>
                </a:solidFill>
                <a:latin typeface="Aptos"/>
              </a:rPr>
              <a:t>Profile lookup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4297680"/>
            <a:ext cx="251460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217920" y="4297680"/>
            <a:ext cx="68580" cy="1097280"/>
          </a:xfrm>
          <a:prstGeom prst="rect">
            <a:avLst/>
          </a:prstGeom>
          <a:solidFill>
            <a:srgbClr val="E88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19088" y="4462272"/>
            <a:ext cx="2194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C"/>
                </a:solidFill>
                <a:latin typeface="Aptos"/>
              </a:rPr>
              <a:t>Prediction API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419088" y="4873752"/>
            <a:ext cx="2148840" cy="3840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42F3D"/>
                </a:solidFill>
                <a:latin typeface="Aptos"/>
              </a:rPr>
              <a:t>Individual churn probability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006839" y="4297680"/>
            <a:ext cx="2514600" cy="10972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9006839" y="4297680"/>
            <a:ext cx="68580" cy="1097280"/>
          </a:xfrm>
          <a:prstGeom prst="rect">
            <a:avLst/>
          </a:prstGeom>
          <a:solidFill>
            <a:srgbClr val="6F5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9208007" y="4462272"/>
            <a:ext cx="2194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>
                <a:solidFill>
                  <a:srgbClr val="122B4C"/>
                </a:solidFill>
                <a:latin typeface="Aptos"/>
              </a:rPr>
              <a:t>Future AI assistant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08007" y="4873752"/>
            <a:ext cx="2148840" cy="3840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242F3D"/>
                </a:solidFill>
                <a:latin typeface="Aptos"/>
              </a:rPr>
              <a:t>customer_risk_table as a data source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89497"/>
                </a:solidFill>
                <a:latin typeface="Aptos"/>
              </a:rPr>
              <a:t>CUSTOMER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22B4C"/>
                </a:solidFill>
                <a:latin typeface="Aptos"/>
              </a:rPr>
              <a:t>Business Value &amp; Future Expansion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430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27081"/>
                </a:solidFill>
                <a:latin typeface="Aptos"/>
              </a:rPr>
              <a:t>A foundation for a more proactive retention operating model.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11155680" cy="22860"/>
          </a:xfrm>
          <a:prstGeom prst="rect">
            <a:avLst/>
          </a:prstGeom>
          <a:solidFill>
            <a:srgbClr val="DB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27081"/>
                </a:solidFill>
                <a:latin typeface="Aptos"/>
              </a:rPr>
              <a:t>Based on the Customer Retention Intelligence System project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627081"/>
                </a:solidFill>
                <a:latin typeface="Aptos"/>
              </a:rPr>
              <a:t>18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3474720" cy="1325880"/>
          </a:xfrm>
          <a:prstGeom prst="roundRect">
            <a:avLst/>
          </a:prstGeom>
          <a:solidFill>
            <a:srgbClr val="E5EFFA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40080" y="1828800"/>
            <a:ext cx="68580" cy="1325880"/>
          </a:xfrm>
          <a:prstGeom prst="rect">
            <a:avLst/>
          </a:prstGeom>
          <a:solidFill>
            <a:srgbClr val="2A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7" y="1993392"/>
            <a:ext cx="31546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C"/>
                </a:solidFill>
                <a:latin typeface="Aptos"/>
              </a:rPr>
              <a:t>Today: Visibility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2404872"/>
            <a:ext cx="3108960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42F3D"/>
                </a:solidFill>
                <a:latin typeface="Aptos"/>
              </a:rPr>
              <a:t>Centralized churn KPIs, customer lookup and prioritized high-risk lists.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1828800"/>
            <a:ext cx="3474720" cy="1325880"/>
          </a:xfrm>
          <a:prstGeom prst="roundRect">
            <a:avLst/>
          </a:prstGeom>
          <a:solidFill>
            <a:srgbClr val="FCF1E1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43400" y="1828800"/>
            <a:ext cx="68580" cy="1325880"/>
          </a:xfrm>
          <a:prstGeom prst="rect">
            <a:avLst/>
          </a:prstGeom>
          <a:solidFill>
            <a:srgbClr val="E88F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44568" y="1993392"/>
            <a:ext cx="31546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C"/>
                </a:solidFill>
                <a:latin typeface="Aptos"/>
              </a:rPr>
              <a:t>Today: Prediction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404872"/>
            <a:ext cx="3108960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42F3D"/>
                </a:solidFill>
                <a:latin typeface="Aptos"/>
              </a:rPr>
              <a:t>Individual and batch churn risk scoring creates a repeatable prioritization mechanism.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828800"/>
            <a:ext cx="3474720" cy="1325880"/>
          </a:xfrm>
          <a:prstGeom prst="roundRect">
            <a:avLst/>
          </a:prstGeom>
          <a:solidFill>
            <a:srgbClr val="E4F6F5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46720" y="1828800"/>
            <a:ext cx="68580" cy="1325880"/>
          </a:xfrm>
          <a:prstGeom prst="rect">
            <a:avLst/>
          </a:prstGeom>
          <a:solidFill>
            <a:srgbClr val="1894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47888" y="1993392"/>
            <a:ext cx="31546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C"/>
                </a:solidFill>
                <a:latin typeface="Aptos"/>
              </a:rPr>
              <a:t>Today: Trust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404872"/>
            <a:ext cx="3108960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42F3D"/>
                </a:solidFill>
                <a:latin typeface="Aptos"/>
              </a:rPr>
              <a:t>Explainable rules, feature interpretation, validation and logging support responsible adoption.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657600"/>
            <a:ext cx="3474720" cy="1325880"/>
          </a:xfrm>
          <a:prstGeom prst="roundRect">
            <a:avLst/>
          </a:prstGeom>
          <a:solidFill>
            <a:srgbClr val="EFEAF8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40080" y="3657600"/>
            <a:ext cx="68580" cy="1325880"/>
          </a:xfrm>
          <a:prstGeom prst="rect">
            <a:avLst/>
          </a:prstGeom>
          <a:solidFill>
            <a:srgbClr val="6F5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1247" y="3822191"/>
            <a:ext cx="31546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C"/>
                </a:solidFill>
                <a:latin typeface="Aptos"/>
              </a:rPr>
              <a:t>Next: Real-time signals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7" y="4233672"/>
            <a:ext cx="3108960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42F3D"/>
                </a:solidFill>
                <a:latin typeface="Aptos"/>
              </a:rPr>
              <a:t>Extend the customer-state model with event or usage data when available.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343400" y="3657600"/>
            <a:ext cx="347472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343400" y="3657600"/>
            <a:ext cx="68580" cy="1325880"/>
          </a:xfrm>
          <a:prstGeom prst="rect">
            <a:avLst/>
          </a:prstGeom>
          <a:solidFill>
            <a:srgbClr val="2D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544568" y="3822191"/>
            <a:ext cx="31546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C"/>
                </a:solidFill>
                <a:latin typeface="Aptos"/>
              </a:rPr>
              <a:t>Next: Smarter actions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44568" y="4233672"/>
            <a:ext cx="3108960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42F3D"/>
                </a:solidFill>
                <a:latin typeface="Aptos"/>
              </a:rPr>
              <a:t>Move from risk identification to next-best retention action and offer recommendation.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3657600"/>
            <a:ext cx="3474720" cy="1325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8046720" y="3657600"/>
            <a:ext cx="68580" cy="1325880"/>
          </a:xfrm>
          <a:prstGeom prst="rect">
            <a:avLst/>
          </a:prstGeom>
          <a:solidFill>
            <a:srgbClr val="2A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247888" y="3822191"/>
            <a:ext cx="31546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B4C"/>
                </a:solidFill>
                <a:latin typeface="Aptos"/>
              </a:rPr>
              <a:t>Next: AI assistant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47888" y="4233672"/>
            <a:ext cx="3108960" cy="61264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>
                <a:solidFill>
                  <a:srgbClr val="242F3D"/>
                </a:solidFill>
                <a:latin typeface="Aptos"/>
              </a:rPr>
              <a:t>Use the customer risk table as a grounded source for a conversational retention assistant.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62356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122B4C"/>
                </a:solidFill>
                <a:latin typeface="Aptos"/>
              </a:rPr>
              <a:t>Goal: reduce the gap between “we know who is at risk” and “we know what to do next.”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2286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1">
                <a:solidFill>
                  <a:srgbClr val="189497"/>
                </a:solidFill>
                <a:latin typeface="Aptos"/>
              </a:rPr>
              <a:t>CUSTOMER PITCH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76072"/>
            <a:ext cx="1106424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22B4C"/>
                </a:solidFill>
                <a:latin typeface="Aptos"/>
              </a:rPr>
              <a:t>Closing: From Churn Data to Retention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143000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27081"/>
                </a:solidFill>
                <a:latin typeface="Aptos"/>
              </a:rPr>
              <a:t>A complete foundation for customer retention intelligence.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572768"/>
            <a:ext cx="11155680" cy="22860"/>
          </a:xfrm>
          <a:prstGeom prst="rect">
            <a:avLst/>
          </a:prstGeom>
          <a:solidFill>
            <a:srgbClr val="DBE2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8755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>
                <a:solidFill>
                  <a:srgbClr val="627081"/>
                </a:solidFill>
                <a:latin typeface="Aptos"/>
              </a:rPr>
              <a:t>Based on the Customer Retention Intelligence System project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81360" y="6473952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627081"/>
                </a:solidFill>
                <a:latin typeface="Aptos"/>
              </a:rPr>
              <a:t>19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5212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22B4C"/>
                </a:solidFill>
                <a:latin typeface="Aptos"/>
              </a:rPr>
              <a:t>One platform.
One customer view.
One actionable risk workflow.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246120"/>
            <a:ext cx="5166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242F3D"/>
                </a:solidFill>
                <a:latin typeface="Aptos"/>
              </a:defRPr>
            </a:pPr>
            <a:r>
              <a:t>Understand the customer</a:t>
            </a:r>
          </a:p>
          <a:p>
            <a:pPr>
              <a:spcAft>
                <a:spcPts val="700"/>
              </a:spcAft>
              <a:defRPr sz="1500">
                <a:solidFill>
                  <a:srgbClr val="242F3D"/>
                </a:solidFill>
                <a:latin typeface="Aptos"/>
              </a:defRPr>
            </a:pPr>
            <a:r>
              <a:t>Identify the highest-risk segments</a:t>
            </a:r>
          </a:p>
          <a:p>
            <a:pPr>
              <a:spcAft>
                <a:spcPts val="700"/>
              </a:spcAft>
              <a:defRPr sz="1500">
                <a:solidFill>
                  <a:srgbClr val="242F3D"/>
                </a:solidFill>
                <a:latin typeface="Aptos"/>
              </a:defRPr>
            </a:pPr>
            <a:r>
              <a:t>Explain why a customer is risky</a:t>
            </a:r>
          </a:p>
          <a:p>
            <a:pPr>
              <a:spcAft>
                <a:spcPts val="700"/>
              </a:spcAft>
              <a:defRPr sz="1500">
                <a:solidFill>
                  <a:srgbClr val="242F3D"/>
                </a:solidFill>
                <a:latin typeface="Aptos"/>
              </a:defRPr>
            </a:pPr>
            <a:r>
              <a:t>Prioritize the next conversation</a:t>
            </a:r>
          </a:p>
          <a:p>
            <a:pPr>
              <a:spcAft>
                <a:spcPts val="700"/>
              </a:spcAft>
              <a:defRPr sz="1500">
                <a:solidFill>
                  <a:srgbClr val="242F3D"/>
                </a:solidFill>
                <a:latin typeface="Aptos"/>
              </a:defRPr>
            </a:pPr>
            <a:r>
              <a:t>Continuously refresh the intelligence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874519"/>
            <a:ext cx="4846320" cy="1051560"/>
          </a:xfrm>
          <a:prstGeom prst="roundRect">
            <a:avLst/>
          </a:prstGeom>
          <a:solidFill>
            <a:srgbClr val="E5EFFA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446520" y="1874519"/>
            <a:ext cx="68580" cy="1051560"/>
          </a:xfrm>
          <a:prstGeom prst="rect">
            <a:avLst/>
          </a:prstGeom>
          <a:solidFill>
            <a:srgbClr val="2A69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47688" y="2039112"/>
            <a:ext cx="4526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2B4C"/>
                </a:solidFill>
                <a:latin typeface="Aptos"/>
              </a:rPr>
              <a:t>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47688" y="2450591"/>
            <a:ext cx="4480559" cy="3383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42F3D"/>
                </a:solidFill>
                <a:latin typeface="Aptos"/>
              </a:rPr>
              <a:t>Validated + curated customer data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46520" y="3127248"/>
            <a:ext cx="4846320" cy="1051560"/>
          </a:xfrm>
          <a:prstGeom prst="roundRect">
            <a:avLst/>
          </a:prstGeom>
          <a:solidFill>
            <a:srgbClr val="EFEAF8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446520" y="3127248"/>
            <a:ext cx="68580" cy="1051560"/>
          </a:xfrm>
          <a:prstGeom prst="rect">
            <a:avLst/>
          </a:prstGeom>
          <a:solidFill>
            <a:srgbClr val="6F5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47688" y="3291840"/>
            <a:ext cx="4526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2B4C"/>
                </a:solidFill>
                <a:latin typeface="Aptos"/>
              </a:rPr>
              <a:t>INTELLIGENCE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47688" y="3703320"/>
            <a:ext cx="4480559" cy="3383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42F3D"/>
                </a:solidFill>
                <a:latin typeface="Aptos"/>
              </a:rPr>
              <a:t>Analytics + explainable rules + ML risk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46520" y="4379976"/>
            <a:ext cx="4846320" cy="1051560"/>
          </a:xfrm>
          <a:prstGeom prst="roundRect">
            <a:avLst/>
          </a:prstGeom>
          <a:solidFill>
            <a:srgbClr val="E4F6F5"/>
          </a:solidFill>
          <a:ln w="10160">
            <a:solidFill>
              <a:srgbClr val="DB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46520" y="4379976"/>
            <a:ext cx="68580" cy="1051560"/>
          </a:xfrm>
          <a:prstGeom prst="rect">
            <a:avLst/>
          </a:prstGeom>
          <a:solidFill>
            <a:srgbClr val="2D9D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647688" y="4544568"/>
            <a:ext cx="4526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122B4C"/>
                </a:solidFill>
                <a:latin typeface="Aptos"/>
              </a:rPr>
              <a:t>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47688" y="4956048"/>
            <a:ext cx="4480559" cy="33832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242F3D"/>
                </a:solidFill>
                <a:latin typeface="Aptos"/>
              </a:rPr>
              <a:t>APIs + React dashboard for retention teams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897880"/>
            <a:ext cx="10698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89497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19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revision>2</cp:revision>
  <dcterms:created xsi:type="dcterms:W3CDTF">2013-01-27T09:14:16Z</dcterms:created>
  <dcterms:modified xsi:type="dcterms:W3CDTF">2026-09-17T06:54:27Z</dcterms:modified>
  <cp:category/>
</cp:coreProperties>
</file>